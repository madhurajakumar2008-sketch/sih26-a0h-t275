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Garamond"/>
      <p:regular r:id="rId13"/>
      <p:bold r:id="rId14"/>
      <p:italic r:id="rId15"/>
      <p:boldItalic r:id="rId16"/>
    </p:embeddedFont>
    <p:embeddedFont>
      <p:font typeface="Oswal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Garamond-regular.fntdata"/><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Garamond-italic.fntdata"/><Relationship Id="rId14" Type="http://schemas.openxmlformats.org/officeDocument/2006/relationships/font" Target="fonts/Garamond-bold.fntdata"/><Relationship Id="rId17" Type="http://schemas.openxmlformats.org/officeDocument/2006/relationships/font" Target="fonts/Oswald-regular.fntdata"/><Relationship Id="rId16" Type="http://schemas.openxmlformats.org/officeDocument/2006/relationships/font" Target="fonts/Garamond-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font" Target="fonts/Oswald-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409d38ac4d6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409d38ac4d6_9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409d38ac4d6_9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38" name="Google Shape;138;g409d38ac4d6_9_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409d38ac4d6_9_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409d38ac4d6_9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52" name="Google Shape;152;g409d38ac4d6_9_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409d38ac4d6_9_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409d38ac4d6_9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65" name="Google Shape;165;g409d38ac4d6_9_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409d38ac4d6_9_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409d38ac4d6_16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78" name="Google Shape;178;g409d38ac4d6_16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409d38ac4d6_16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409d38ac4d6_9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92" name="Google Shape;192;g409d38ac4d6_9_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409d38ac4d6_9_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685800" y="1597821"/>
            <a:ext cx="7772400" cy="1102519"/>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58" name="Google Shape;58;p14"/>
          <p:cNvSpPr txBox="1"/>
          <p:nvPr>
            <p:ph idx="1" type="subTitle"/>
          </p:nvPr>
        </p:nvSpPr>
        <p:spPr>
          <a:xfrm>
            <a:off x="1371600" y="2914650"/>
            <a:ext cx="6400800" cy="1314450"/>
          </a:xfrm>
          <a:prstGeom prst="rect">
            <a:avLst/>
          </a:prstGeom>
          <a:noFill/>
          <a:ln>
            <a:noFill/>
          </a:ln>
        </p:spPr>
        <p:txBody>
          <a:bodyPr anchorCtr="0" anchor="t" bIns="34275" lIns="68575" spcFirstLastPara="1" rIns="68575" wrap="square" tIns="34275">
            <a:no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59" name="Google Shape;59;p1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64" name="Google Shape;64;p15"/>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5" name="Google Shape;65;p15"/>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722313" y="3305177"/>
            <a:ext cx="7772400" cy="1021556"/>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b="1" sz="3000" cap="none"/>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70" name="Google Shape;70;p16"/>
          <p:cNvSpPr txBox="1"/>
          <p:nvPr>
            <p:ph idx="1" type="body"/>
          </p:nvPr>
        </p:nvSpPr>
        <p:spPr>
          <a:xfrm>
            <a:off x="722313" y="2180035"/>
            <a:ext cx="7772400" cy="1125140"/>
          </a:xfrm>
          <a:prstGeom prst="rect">
            <a:avLst/>
          </a:prstGeom>
          <a:noFill/>
          <a:ln>
            <a:noFill/>
          </a:ln>
        </p:spPr>
        <p:txBody>
          <a:bodyPr anchorCtr="0" anchor="b" bIns="34275" lIns="68575" spcFirstLastPara="1" rIns="68575" wrap="square" tIns="34275">
            <a:no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1" name="Google Shape;71;p16"/>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76" name="Google Shape;76;p17"/>
          <p:cNvSpPr txBox="1"/>
          <p:nvPr>
            <p:ph idx="1" type="body"/>
          </p:nvPr>
        </p:nvSpPr>
        <p:spPr>
          <a:xfrm>
            <a:off x="457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77" name="Google Shape;77;p17"/>
          <p:cNvSpPr txBox="1"/>
          <p:nvPr>
            <p:ph idx="2" type="body"/>
          </p:nvPr>
        </p:nvSpPr>
        <p:spPr>
          <a:xfrm>
            <a:off x="4648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78" name="Google Shape;78;p17"/>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83" name="Google Shape;83;p18"/>
          <p:cNvSpPr txBox="1"/>
          <p:nvPr>
            <p:ph idx="1" type="body"/>
          </p:nvPr>
        </p:nvSpPr>
        <p:spPr>
          <a:xfrm>
            <a:off x="457200" y="1151335"/>
            <a:ext cx="4040188" cy="479822"/>
          </a:xfrm>
          <a:prstGeom prst="rect">
            <a:avLst/>
          </a:prstGeom>
          <a:noFill/>
          <a:ln>
            <a:noFill/>
          </a:ln>
        </p:spPr>
        <p:txBody>
          <a:bodyPr anchorCtr="0" anchor="b" bIns="34275" lIns="68575" spcFirstLastPara="1" rIns="68575" wrap="square" tIns="34275">
            <a:no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4" name="Google Shape;84;p18"/>
          <p:cNvSpPr txBox="1"/>
          <p:nvPr>
            <p:ph idx="2" type="body"/>
          </p:nvPr>
        </p:nvSpPr>
        <p:spPr>
          <a:xfrm>
            <a:off x="457200" y="1631156"/>
            <a:ext cx="4040188" cy="2963466"/>
          </a:xfrm>
          <a:prstGeom prst="rect">
            <a:avLst/>
          </a:prstGeom>
          <a:noFill/>
          <a:ln>
            <a:noFill/>
          </a:ln>
        </p:spPr>
        <p:txBody>
          <a:bodyPr anchorCtr="0" anchor="t" bIns="34275" lIns="68575" spcFirstLastPara="1" rIns="68575" wrap="square" tIns="34275">
            <a:no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5" name="Google Shape;85;p18"/>
          <p:cNvSpPr txBox="1"/>
          <p:nvPr>
            <p:ph idx="3" type="body"/>
          </p:nvPr>
        </p:nvSpPr>
        <p:spPr>
          <a:xfrm>
            <a:off x="4645027" y="1151335"/>
            <a:ext cx="4041775" cy="479822"/>
          </a:xfrm>
          <a:prstGeom prst="rect">
            <a:avLst/>
          </a:prstGeom>
          <a:noFill/>
          <a:ln>
            <a:noFill/>
          </a:ln>
        </p:spPr>
        <p:txBody>
          <a:bodyPr anchorCtr="0" anchor="b" bIns="34275" lIns="68575" spcFirstLastPara="1" rIns="68575" wrap="square" tIns="34275">
            <a:no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6" name="Google Shape;86;p18"/>
          <p:cNvSpPr txBox="1"/>
          <p:nvPr>
            <p:ph idx="4" type="body"/>
          </p:nvPr>
        </p:nvSpPr>
        <p:spPr>
          <a:xfrm>
            <a:off x="4645027" y="1631156"/>
            <a:ext cx="4041775" cy="2963466"/>
          </a:xfrm>
          <a:prstGeom prst="rect">
            <a:avLst/>
          </a:prstGeom>
          <a:noFill/>
          <a:ln>
            <a:noFill/>
          </a:ln>
        </p:spPr>
        <p:txBody>
          <a:bodyPr anchorCtr="0" anchor="t" bIns="34275" lIns="68575" spcFirstLastPara="1" rIns="68575" wrap="square" tIns="34275">
            <a:no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7" name="Google Shape;87;p18"/>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92" name="Google Shape;92;p19"/>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1" y="204788"/>
            <a:ext cx="3008313" cy="871538"/>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b="1" sz="1500"/>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01" name="Google Shape;101;p21"/>
          <p:cNvSpPr txBox="1"/>
          <p:nvPr>
            <p:ph idx="1" type="body"/>
          </p:nvPr>
        </p:nvSpPr>
        <p:spPr>
          <a:xfrm>
            <a:off x="3575050" y="204790"/>
            <a:ext cx="5111750" cy="4389835"/>
          </a:xfrm>
          <a:prstGeom prst="rect">
            <a:avLst/>
          </a:prstGeom>
          <a:noFill/>
          <a:ln>
            <a:noFill/>
          </a:ln>
        </p:spPr>
        <p:txBody>
          <a:bodyPr anchorCtr="0" anchor="t" bIns="34275" lIns="68575" spcFirstLastPara="1" rIns="68575" wrap="square" tIns="34275">
            <a:no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457201" y="1076327"/>
            <a:ext cx="3008313" cy="3518297"/>
          </a:xfrm>
          <a:prstGeom prst="rect">
            <a:avLst/>
          </a:prstGeom>
          <a:noFill/>
          <a:ln>
            <a:noFill/>
          </a:ln>
        </p:spPr>
        <p:txBody>
          <a:bodyPr anchorCtr="0" anchor="t" bIns="34275" lIns="68575" spcFirstLastPara="1" rIns="68575" wrap="square" tIns="34275">
            <a:no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3600450"/>
            <a:ext cx="5486400" cy="425054"/>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b="1" sz="1500"/>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08" name="Google Shape;108;p22"/>
          <p:cNvSpPr/>
          <p:nvPr>
            <p:ph idx="2" type="pic"/>
          </p:nvPr>
        </p:nvSpPr>
        <p:spPr>
          <a:xfrm>
            <a:off x="1792288" y="459581"/>
            <a:ext cx="5486400" cy="3086100"/>
          </a:xfrm>
          <a:prstGeom prst="rect">
            <a:avLst/>
          </a:prstGeom>
          <a:noFill/>
          <a:ln>
            <a:noFill/>
          </a:ln>
        </p:spPr>
      </p:sp>
      <p:sp>
        <p:nvSpPr>
          <p:cNvPr id="109" name="Google Shape;109;p22"/>
          <p:cNvSpPr txBox="1"/>
          <p:nvPr>
            <p:ph idx="1" type="body"/>
          </p:nvPr>
        </p:nvSpPr>
        <p:spPr>
          <a:xfrm>
            <a:off x="1792288" y="4025503"/>
            <a:ext cx="5486400" cy="603647"/>
          </a:xfrm>
          <a:prstGeom prst="rect">
            <a:avLst/>
          </a:prstGeom>
          <a:noFill/>
          <a:ln>
            <a:noFill/>
          </a:ln>
        </p:spPr>
        <p:txBody>
          <a:bodyPr anchorCtr="0" anchor="t" bIns="34275" lIns="68575" spcFirstLastPara="1" rIns="68575" wrap="square" tIns="34275">
            <a:no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15" name="Google Shape;115;p23"/>
          <p:cNvSpPr txBox="1"/>
          <p:nvPr>
            <p:ph idx="1" type="body"/>
          </p:nvPr>
        </p:nvSpPr>
        <p:spPr>
          <a:xfrm rot="5400000">
            <a:off x="2685455" y="-1406723"/>
            <a:ext cx="3773091" cy="8229600"/>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463778" y="1371603"/>
            <a:ext cx="4388644" cy="20574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21" name="Google Shape;121;p24"/>
          <p:cNvSpPr txBox="1"/>
          <p:nvPr>
            <p:ph idx="1" type="body"/>
          </p:nvPr>
        </p:nvSpPr>
        <p:spPr>
          <a:xfrm rot="5400000">
            <a:off x="1272778" y="-609597"/>
            <a:ext cx="4388644" cy="6019800"/>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1pPr>
            <a:lvl2pPr lvl="1"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2pPr>
            <a:lvl3pPr lvl="2"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3pPr>
            <a:lvl4pPr lvl="3"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4pPr>
            <a:lvl5pPr lvl="4"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5pPr>
            <a:lvl6pPr lvl="5"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6pPr>
            <a:lvl7pPr lvl="6"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7pPr>
            <a:lvl8pPr lvl="7"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8pPr>
            <a:lvl9pPr lvl="8"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9pPr>
          </a:lstStyle>
          <a:p/>
        </p:txBody>
      </p:sp>
      <p:sp>
        <p:nvSpPr>
          <p:cNvPr id="52" name="Google Shape;52;p13"/>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Oswald"/>
                <a:ea typeface="Oswald"/>
                <a:cs typeface="Oswald"/>
                <a:sym typeface="Oswald"/>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Oswald"/>
                <a:ea typeface="Oswald"/>
                <a:cs typeface="Oswald"/>
                <a:sym typeface="Oswald"/>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98989"/>
                </a:solidFill>
                <a:latin typeface="Oswald"/>
                <a:ea typeface="Oswald"/>
                <a:cs typeface="Oswald"/>
                <a:sym typeface="Oswald"/>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Oswald"/>
                <a:ea typeface="Oswald"/>
                <a:cs typeface="Oswald"/>
                <a:sym typeface="Oswald"/>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marR="0" rt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marR="0" rt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marR="0" rt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marR="0" rt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marR="0" rt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marR="0" rt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marR="0" rt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marR="0" rt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jpg"/><Relationship Id="rId5"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jpg"/><Relationship Id="rId5"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25"/>
          <p:cNvSpPr/>
          <p:nvPr/>
        </p:nvSpPr>
        <p:spPr>
          <a:xfrm>
            <a:off x="1143000" y="0"/>
            <a:ext cx="6858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0" name="Google Shape;130;p25"/>
          <p:cNvSpPr/>
          <p:nvPr/>
        </p:nvSpPr>
        <p:spPr>
          <a:xfrm>
            <a:off x="5431110" y="577153"/>
            <a:ext cx="3478953" cy="3866225"/>
          </a:xfrm>
          <a:custGeom>
            <a:rect b="b" l="l" r="r" t="t"/>
            <a:pathLst>
              <a:path extrusionOk="0" h="5154967" w="6184806">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2"/>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131" name="Google Shape;131;p25"/>
          <p:cNvPicPr preferRelativeResize="0"/>
          <p:nvPr/>
        </p:nvPicPr>
        <p:blipFill rotWithShape="1">
          <a:blip r:embed="rId3">
            <a:alphaModFix/>
          </a:blip>
          <a:srcRect b="0" l="0" r="59916" t="0"/>
          <a:stretch/>
        </p:blipFill>
        <p:spPr>
          <a:xfrm>
            <a:off x="6179572" y="1496634"/>
            <a:ext cx="2402632" cy="2569678"/>
          </a:xfrm>
          <a:prstGeom prst="rect">
            <a:avLst/>
          </a:prstGeom>
          <a:noFill/>
          <a:ln>
            <a:noFill/>
          </a:ln>
        </p:spPr>
      </p:pic>
      <p:sp>
        <p:nvSpPr>
          <p:cNvPr id="132" name="Google Shape;132;p25"/>
          <p:cNvSpPr txBox="1"/>
          <p:nvPr>
            <p:ph type="ctrTitle"/>
          </p:nvPr>
        </p:nvSpPr>
        <p:spPr>
          <a:xfrm>
            <a:off x="248464" y="-395068"/>
            <a:ext cx="7772400" cy="1557338"/>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n" sz="3000">
                <a:solidFill>
                  <a:schemeClr val="dk2"/>
                </a:solidFill>
                <a:latin typeface="Garamond"/>
                <a:ea typeface="Garamond"/>
                <a:cs typeface="Garamond"/>
                <a:sym typeface="Garamond"/>
              </a:rPr>
              <a:t>SMART INDIA HACKATHON 2026</a:t>
            </a:r>
            <a:endParaRPr b="1" sz="3000">
              <a:solidFill>
                <a:schemeClr val="dk2"/>
              </a:solidFill>
              <a:latin typeface="Garamond"/>
              <a:ea typeface="Garamond"/>
              <a:cs typeface="Garamond"/>
              <a:sym typeface="Garamond"/>
            </a:endParaRPr>
          </a:p>
        </p:txBody>
      </p:sp>
      <p:sp>
        <p:nvSpPr>
          <p:cNvPr id="133" name="Google Shape;133;p25"/>
          <p:cNvSpPr txBox="1"/>
          <p:nvPr/>
        </p:nvSpPr>
        <p:spPr>
          <a:xfrm>
            <a:off x="422640" y="1162270"/>
            <a:ext cx="4443300" cy="3932700"/>
          </a:xfrm>
          <a:prstGeom prst="rect">
            <a:avLst/>
          </a:prstGeom>
          <a:noFill/>
          <a:ln>
            <a:noFill/>
          </a:ln>
        </p:spPr>
        <p:txBody>
          <a:bodyPr anchorCtr="0" anchor="t" bIns="34275" lIns="68575" spcFirstLastPara="1" rIns="68575" wrap="square" tIns="34275">
            <a:spAutoFit/>
          </a:bodyPr>
          <a:lstStyle/>
          <a:p>
            <a:pPr indent="-209550" lvl="0" marL="215900" marR="0" rtl="0" algn="just">
              <a:lnSpc>
                <a:spcPct val="200000"/>
              </a:lnSpc>
              <a:spcBef>
                <a:spcPts val="0"/>
              </a:spcBef>
              <a:spcAft>
                <a:spcPts val="0"/>
              </a:spcAft>
              <a:buClr>
                <a:schemeClr val="dk1"/>
              </a:buClr>
              <a:buSzPts val="1500"/>
              <a:buFont typeface="Arial"/>
              <a:buChar char="•"/>
            </a:pPr>
            <a:r>
              <a:rPr b="1" i="0" lang="en" sz="1500" u="none" cap="none" strike="noStrike">
                <a:solidFill>
                  <a:schemeClr val="dk1"/>
                </a:solidFill>
                <a:latin typeface="Times New Roman"/>
                <a:ea typeface="Times New Roman"/>
                <a:cs typeface="Times New Roman"/>
                <a:sym typeface="Times New Roman"/>
              </a:rPr>
              <a:t>Problem Statement ID – SIH260</a:t>
            </a:r>
            <a:r>
              <a:rPr b="1" lang="en" sz="1500">
                <a:solidFill>
                  <a:schemeClr val="dk1"/>
                </a:solidFill>
                <a:latin typeface="Times New Roman"/>
                <a:ea typeface="Times New Roman"/>
                <a:cs typeface="Times New Roman"/>
                <a:sym typeface="Times New Roman"/>
              </a:rPr>
              <a:t>21</a:t>
            </a:r>
            <a:endParaRPr sz="1100"/>
          </a:p>
          <a:p>
            <a:pPr indent="-209550" lvl="0" marL="215900" marR="0" rtl="0" algn="just">
              <a:lnSpc>
                <a:spcPct val="200000"/>
              </a:lnSpc>
              <a:spcBef>
                <a:spcPts val="0"/>
              </a:spcBef>
              <a:spcAft>
                <a:spcPts val="0"/>
              </a:spcAft>
              <a:buClr>
                <a:schemeClr val="dk1"/>
              </a:buClr>
              <a:buSzPts val="1500"/>
              <a:buFont typeface="Arial"/>
              <a:buChar char="•"/>
            </a:pPr>
            <a:r>
              <a:rPr b="1" i="0" lang="en" sz="1500" u="none" cap="none" strike="noStrike">
                <a:solidFill>
                  <a:schemeClr val="dk1"/>
                </a:solidFill>
                <a:latin typeface="Times New Roman"/>
                <a:ea typeface="Times New Roman"/>
                <a:cs typeface="Times New Roman"/>
                <a:sym typeface="Times New Roman"/>
              </a:rPr>
              <a:t>Problem Statement Title-  </a:t>
            </a:r>
            <a:r>
              <a:rPr b="1" i="1" lang="en">
                <a:solidFill>
                  <a:schemeClr val="dk1"/>
                </a:solidFill>
                <a:highlight>
                  <a:srgbClr val="FFFFFF"/>
                </a:highlight>
              </a:rPr>
              <a:t>Honey Chain: A block chain-based system for honey traceability and smart beekeeping management.</a:t>
            </a:r>
            <a:r>
              <a:rPr b="1" i="1" lang="en">
                <a:solidFill>
                  <a:schemeClr val="dk1"/>
                </a:solidFill>
              </a:rPr>
              <a:t> </a:t>
            </a:r>
            <a:endParaRPr b="1" i="1"/>
          </a:p>
          <a:p>
            <a:pPr indent="-209550" lvl="0" marL="215900" marR="0" rtl="0" algn="just">
              <a:lnSpc>
                <a:spcPct val="200000"/>
              </a:lnSpc>
              <a:spcBef>
                <a:spcPts val="0"/>
              </a:spcBef>
              <a:spcAft>
                <a:spcPts val="0"/>
              </a:spcAft>
              <a:buClr>
                <a:schemeClr val="dk1"/>
              </a:buClr>
              <a:buSzPts val="1500"/>
              <a:buFont typeface="Arial"/>
              <a:buChar char="•"/>
            </a:pPr>
            <a:r>
              <a:rPr b="1" i="0" lang="en" sz="1500" u="none" cap="none" strike="noStrike">
                <a:solidFill>
                  <a:schemeClr val="dk1"/>
                </a:solidFill>
                <a:latin typeface="Times New Roman"/>
                <a:ea typeface="Times New Roman"/>
                <a:cs typeface="Times New Roman"/>
                <a:sym typeface="Times New Roman"/>
              </a:rPr>
              <a:t>Theme- </a:t>
            </a:r>
            <a:r>
              <a:rPr b="1" lang="en" sz="1500">
                <a:solidFill>
                  <a:schemeClr val="dk1"/>
                </a:solidFill>
                <a:latin typeface="Times New Roman"/>
                <a:ea typeface="Times New Roman"/>
                <a:cs typeface="Times New Roman"/>
                <a:sym typeface="Times New Roman"/>
              </a:rPr>
              <a:t> </a:t>
            </a:r>
            <a:r>
              <a:rPr b="1" i="1" lang="en">
                <a:solidFill>
                  <a:srgbClr val="212529"/>
                </a:solidFill>
                <a:highlight>
                  <a:srgbClr val="FFFFFF"/>
                </a:highlight>
              </a:rPr>
              <a:t>Agriculture, FoodTech &amp; Rural Development</a:t>
            </a:r>
            <a:r>
              <a:rPr b="1" i="1" lang="en">
                <a:solidFill>
                  <a:schemeClr val="dk1"/>
                </a:solidFill>
              </a:rPr>
              <a:t> </a:t>
            </a:r>
            <a:r>
              <a:rPr b="1" i="1" lang="en">
                <a:solidFill>
                  <a:schemeClr val="dk1"/>
                </a:solidFill>
                <a:latin typeface="Times New Roman"/>
                <a:ea typeface="Times New Roman"/>
                <a:cs typeface="Times New Roman"/>
                <a:sym typeface="Times New Roman"/>
              </a:rPr>
              <a:t> </a:t>
            </a:r>
            <a:r>
              <a:rPr b="1" i="1" lang="en" sz="1500">
                <a:solidFill>
                  <a:schemeClr val="dk1"/>
                </a:solidFill>
                <a:latin typeface="Times New Roman"/>
                <a:ea typeface="Times New Roman"/>
                <a:cs typeface="Times New Roman"/>
                <a:sym typeface="Times New Roman"/>
              </a:rPr>
              <a:t> </a:t>
            </a:r>
            <a:br>
              <a:rPr b="1" i="1" lang="en" sz="1500">
                <a:solidFill>
                  <a:schemeClr val="dk1"/>
                </a:solidFill>
                <a:latin typeface="Times New Roman"/>
                <a:ea typeface="Times New Roman"/>
                <a:cs typeface="Times New Roman"/>
                <a:sym typeface="Times New Roman"/>
              </a:rPr>
            </a:br>
            <a:r>
              <a:rPr b="1" i="0" lang="en" sz="1500" u="none" cap="none" strike="noStrike">
                <a:solidFill>
                  <a:schemeClr val="dk1"/>
                </a:solidFill>
                <a:latin typeface="Times New Roman"/>
                <a:ea typeface="Times New Roman"/>
                <a:cs typeface="Times New Roman"/>
                <a:sym typeface="Times New Roman"/>
              </a:rPr>
              <a:t>PS Category- Software</a:t>
            </a:r>
            <a:endParaRPr sz="1100"/>
          </a:p>
          <a:p>
            <a:pPr indent="-209550" lvl="0" marL="215900" marR="0" rtl="0" algn="just">
              <a:lnSpc>
                <a:spcPct val="200000"/>
              </a:lnSpc>
              <a:spcBef>
                <a:spcPts val="0"/>
              </a:spcBef>
              <a:spcAft>
                <a:spcPts val="0"/>
              </a:spcAft>
              <a:buClr>
                <a:schemeClr val="dk1"/>
              </a:buClr>
              <a:buSzPts val="1500"/>
              <a:buFont typeface="Arial"/>
              <a:buChar char="•"/>
            </a:pPr>
            <a:r>
              <a:rPr b="1" i="0" lang="en" sz="1500" u="none" cap="none" strike="noStrike">
                <a:solidFill>
                  <a:schemeClr val="dk1"/>
                </a:solidFill>
                <a:latin typeface="Times New Roman"/>
                <a:ea typeface="Times New Roman"/>
                <a:cs typeface="Times New Roman"/>
                <a:sym typeface="Times New Roman"/>
              </a:rPr>
              <a:t>Team ID- SIH26-A0H-T275 </a:t>
            </a:r>
            <a:endParaRPr sz="1100"/>
          </a:p>
          <a:p>
            <a:pPr indent="-209550" lvl="0" marL="215900" marR="0" rtl="0" algn="just">
              <a:lnSpc>
                <a:spcPct val="200000"/>
              </a:lnSpc>
              <a:spcBef>
                <a:spcPts val="0"/>
              </a:spcBef>
              <a:spcAft>
                <a:spcPts val="0"/>
              </a:spcAft>
              <a:buClr>
                <a:schemeClr val="dk1"/>
              </a:buClr>
              <a:buSzPts val="1500"/>
              <a:buFont typeface="Arial"/>
              <a:buChar char="•"/>
            </a:pPr>
            <a:r>
              <a:rPr b="1" i="0" lang="en" sz="1500" u="none" cap="none" strike="noStrike">
                <a:solidFill>
                  <a:schemeClr val="dk1"/>
                </a:solidFill>
                <a:latin typeface="Times New Roman"/>
                <a:ea typeface="Times New Roman"/>
                <a:cs typeface="Times New Roman"/>
                <a:sym typeface="Times New Roman"/>
              </a:rPr>
              <a:t>Team Name - Tech Indians</a:t>
            </a:r>
            <a:endParaRPr b="1" i="0" sz="1500" u="none" cap="none" strike="noStrike">
              <a:solidFill>
                <a:schemeClr val="dk1"/>
              </a:solidFill>
              <a:latin typeface="Times New Roman"/>
              <a:ea typeface="Times New Roman"/>
              <a:cs typeface="Times New Roman"/>
              <a:sym typeface="Times New Roman"/>
            </a:endParaRPr>
          </a:p>
        </p:txBody>
      </p:sp>
      <p:pic>
        <p:nvPicPr>
          <p:cNvPr id="134" name="Google Shape;134;p25"/>
          <p:cNvPicPr preferRelativeResize="0"/>
          <p:nvPr/>
        </p:nvPicPr>
        <p:blipFill rotWithShape="1">
          <a:blip r:embed="rId4">
            <a:alphaModFix/>
          </a:blip>
          <a:srcRect b="0" l="0" r="0" t="0"/>
          <a:stretch/>
        </p:blipFill>
        <p:spPr>
          <a:xfrm>
            <a:off x="7389469" y="1125"/>
            <a:ext cx="1687388" cy="796753"/>
          </a:xfrm>
          <a:prstGeom prst="rect">
            <a:avLst/>
          </a:prstGeom>
          <a:noFill/>
          <a:ln>
            <a:noFill/>
          </a:ln>
        </p:spPr>
      </p:pic>
      <p:pic>
        <p:nvPicPr>
          <p:cNvPr id="135" name="Google Shape;135;p25"/>
          <p:cNvPicPr preferRelativeResize="0"/>
          <p:nvPr/>
        </p:nvPicPr>
        <p:blipFill rotWithShape="1">
          <a:blip r:embed="rId5">
            <a:alphaModFix/>
          </a:blip>
          <a:srcRect b="0" l="0" r="0" t="0"/>
          <a:stretch/>
        </p:blipFill>
        <p:spPr>
          <a:xfrm>
            <a:off x="67144" y="1125"/>
            <a:ext cx="1055992" cy="992038"/>
          </a:xfrm>
          <a:prstGeom prst="rect">
            <a:avLst/>
          </a:prstGeom>
          <a:solidFill>
            <a:schemeClr val="lt1"/>
          </a:solid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p:nvPr/>
        </p:nvSpPr>
        <p:spPr>
          <a:xfrm>
            <a:off x="0" y="4766072"/>
            <a:ext cx="9143999" cy="377429"/>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53734"/>
              </a:solidFill>
              <a:latin typeface="Calibri"/>
              <a:ea typeface="Calibri"/>
              <a:cs typeface="Calibri"/>
              <a:sym typeface="Calibri"/>
            </a:endParaRPr>
          </a:p>
        </p:txBody>
      </p:sp>
      <p:sp>
        <p:nvSpPr>
          <p:cNvPr id="142" name="Google Shape;142;p26"/>
          <p:cNvSpPr txBox="1"/>
          <p:nvPr>
            <p:ph type="title"/>
          </p:nvPr>
        </p:nvSpPr>
        <p:spPr>
          <a:xfrm>
            <a:off x="1123125" y="213649"/>
            <a:ext cx="6174900" cy="6879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Font typeface="Arial"/>
              <a:buNone/>
            </a:pPr>
            <a:r>
              <a:rPr b="1" lang="en" sz="1600">
                <a:highlight>
                  <a:schemeClr val="lt1"/>
                </a:highlight>
                <a:latin typeface="Times New Roman"/>
                <a:ea typeface="Times New Roman"/>
                <a:cs typeface="Times New Roman"/>
                <a:sym typeface="Times New Roman"/>
              </a:rPr>
              <a:t> HoneyChain: Blockchain-Powered Honey Traceability, HoneyDNA Authentication and Smart Beekeeping Intelligence Platform</a:t>
            </a:r>
            <a:endParaRPr b="1" sz="1500">
              <a:highlight>
                <a:schemeClr val="lt1"/>
              </a:highlight>
              <a:latin typeface="Times New Roman"/>
              <a:ea typeface="Times New Roman"/>
              <a:cs typeface="Times New Roman"/>
              <a:sym typeface="Times New Roman"/>
            </a:endParaRPr>
          </a:p>
          <a:p>
            <a:pPr indent="0" lvl="0" marL="0" rtl="0" algn="ctr">
              <a:spcBef>
                <a:spcPts val="0"/>
              </a:spcBef>
              <a:spcAft>
                <a:spcPts val="0"/>
              </a:spcAft>
              <a:buNone/>
            </a:pPr>
            <a:br>
              <a:rPr b="1" lang="en" sz="1300">
                <a:solidFill>
                  <a:schemeClr val="accent5"/>
                </a:solidFill>
                <a:latin typeface="Times New Roman"/>
                <a:ea typeface="Times New Roman"/>
                <a:cs typeface="Times New Roman"/>
                <a:sym typeface="Times New Roman"/>
              </a:rPr>
            </a:br>
            <a:endParaRPr b="1" sz="1300">
              <a:solidFill>
                <a:schemeClr val="accent5"/>
              </a:solidFill>
              <a:latin typeface="Times New Roman"/>
              <a:ea typeface="Times New Roman"/>
              <a:cs typeface="Times New Roman"/>
              <a:sym typeface="Times New Roman"/>
            </a:endParaRPr>
          </a:p>
        </p:txBody>
      </p:sp>
      <p:sp>
        <p:nvSpPr>
          <p:cNvPr id="143" name="Google Shape;143;p26"/>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b="1" lang="en" sz="1100">
                <a:solidFill>
                  <a:schemeClr val="lt1"/>
                </a:solidFill>
              </a:rPr>
              <a:t>‹#›</a:t>
            </a:fld>
            <a:endParaRPr b="1" sz="1100">
              <a:solidFill>
                <a:schemeClr val="lt1"/>
              </a:solidFill>
            </a:endParaRPr>
          </a:p>
        </p:txBody>
      </p:sp>
      <p:sp>
        <p:nvSpPr>
          <p:cNvPr id="144" name="Google Shape;144;p26"/>
          <p:cNvSpPr txBox="1"/>
          <p:nvPr>
            <p:ph idx="11" type="ftr"/>
          </p:nvPr>
        </p:nvSpPr>
        <p:spPr>
          <a:xfrm>
            <a:off x="1979762" y="4808192"/>
            <a:ext cx="5969479" cy="273844"/>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@SIH 2026 – HoneyChain: Blockchain-Powered Honey Traceability, HoneyDNA Authentication and Smart Beekeeping Intelligence Platform</a:t>
            </a:r>
            <a:endParaRPr sz="1100">
              <a:solidFill>
                <a:schemeClr val="lt1"/>
              </a:solidFill>
              <a:latin typeface="Times New Roman"/>
              <a:ea typeface="Times New Roman"/>
              <a:cs typeface="Times New Roman"/>
              <a:sym typeface="Times New Roman"/>
            </a:endParaRPr>
          </a:p>
        </p:txBody>
      </p:sp>
      <p:pic>
        <p:nvPicPr>
          <p:cNvPr id="145" name="Google Shape;145;p26"/>
          <p:cNvPicPr preferRelativeResize="0"/>
          <p:nvPr/>
        </p:nvPicPr>
        <p:blipFill rotWithShape="1">
          <a:blip r:embed="rId3">
            <a:alphaModFix/>
          </a:blip>
          <a:srcRect b="0" l="0" r="0" t="0"/>
          <a:stretch/>
        </p:blipFill>
        <p:spPr>
          <a:xfrm>
            <a:off x="7335065" y="1125"/>
            <a:ext cx="1687388" cy="796753"/>
          </a:xfrm>
          <a:prstGeom prst="rect">
            <a:avLst/>
          </a:prstGeom>
          <a:noFill/>
          <a:ln>
            <a:noFill/>
          </a:ln>
        </p:spPr>
      </p:pic>
      <p:pic>
        <p:nvPicPr>
          <p:cNvPr id="146" name="Google Shape;146;p26"/>
          <p:cNvPicPr preferRelativeResize="0"/>
          <p:nvPr/>
        </p:nvPicPr>
        <p:blipFill rotWithShape="1">
          <a:blip r:embed="rId4">
            <a:alphaModFix/>
          </a:blip>
          <a:srcRect b="0" l="0" r="0" t="0"/>
          <a:stretch/>
        </p:blipFill>
        <p:spPr>
          <a:xfrm>
            <a:off x="67144" y="1125"/>
            <a:ext cx="1055992" cy="992038"/>
          </a:xfrm>
          <a:prstGeom prst="rect">
            <a:avLst/>
          </a:prstGeom>
          <a:solidFill>
            <a:schemeClr val="lt1"/>
          </a:solidFill>
          <a:ln>
            <a:noFill/>
          </a:ln>
        </p:spPr>
      </p:pic>
      <p:sp>
        <p:nvSpPr>
          <p:cNvPr id="147" name="Google Shape;147;p26"/>
          <p:cNvSpPr txBox="1"/>
          <p:nvPr/>
        </p:nvSpPr>
        <p:spPr>
          <a:xfrm>
            <a:off x="296450" y="952250"/>
            <a:ext cx="4070700" cy="2279100"/>
          </a:xfrm>
          <a:prstGeom prst="rect">
            <a:avLst/>
          </a:prstGeom>
          <a:noFill/>
          <a:ln>
            <a:noFill/>
          </a:ln>
        </p:spPr>
        <p:txBody>
          <a:bodyPr anchorCtr="0" anchor="t" bIns="68575" lIns="68575" spcFirstLastPara="1" rIns="54950" wrap="square" tIns="68575">
            <a:noAutofit/>
          </a:bodyPr>
          <a:lstStyle/>
          <a:p>
            <a:pPr indent="0" lvl="0" marL="0" marR="0" rtl="0" algn="just">
              <a:lnSpc>
                <a:spcPct val="115000"/>
              </a:lnSpc>
              <a:spcBef>
                <a:spcPts val="0"/>
              </a:spcBef>
              <a:spcAft>
                <a:spcPts val="0"/>
              </a:spcAft>
              <a:buClr>
                <a:schemeClr val="dk1"/>
              </a:buClr>
              <a:buSzPts val="1400"/>
              <a:buFont typeface="Times New Roman"/>
              <a:buNone/>
            </a:pPr>
            <a:r>
              <a:rPr b="0" i="0" lang="en" sz="1400" u="none" cap="none" strike="noStrike">
                <a:solidFill>
                  <a:schemeClr val="dk1"/>
                </a:solidFill>
                <a:latin typeface="Times New Roman"/>
                <a:ea typeface="Times New Roman"/>
                <a:cs typeface="Times New Roman"/>
                <a:sym typeface="Times New Roman"/>
              </a:rPr>
              <a:t>  </a:t>
            </a:r>
            <a:r>
              <a:rPr b="0" i="0" lang="en" sz="1500" u="none" cap="none" strike="noStrike">
                <a:solidFill>
                  <a:schemeClr val="accent5"/>
                </a:solidFill>
                <a:latin typeface="Times New Roman"/>
                <a:ea typeface="Times New Roman"/>
                <a:cs typeface="Times New Roman"/>
                <a:sym typeface="Times New Roman"/>
              </a:rPr>
              <a:t>💡 Our Solution</a:t>
            </a:r>
            <a:endParaRPr b="0" i="0" sz="1500" u="none" cap="none" strike="noStrike">
              <a:solidFill>
                <a:schemeClr val="accent5"/>
              </a:solidFill>
              <a:latin typeface="Times New Roman"/>
              <a:ea typeface="Times New Roman"/>
              <a:cs typeface="Times New Roman"/>
              <a:sym typeface="Times New Roman"/>
            </a:endParaRPr>
          </a:p>
          <a:p>
            <a:pPr indent="0" lvl="0" marL="76200" marR="0" rtl="0" algn="just">
              <a:lnSpc>
                <a:spcPct val="115000"/>
              </a:lnSpc>
              <a:spcBef>
                <a:spcPts val="500"/>
              </a:spcBef>
              <a:spcAft>
                <a:spcPts val="0"/>
              </a:spcAft>
              <a:buClr>
                <a:schemeClr val="dk1"/>
              </a:buClr>
              <a:buSzPts val="1400"/>
              <a:buFont typeface="Times New Roman"/>
              <a:buNone/>
            </a:pPr>
            <a:r>
              <a:rPr lang="en">
                <a:latin typeface="Times New Roman"/>
                <a:ea typeface="Times New Roman"/>
                <a:cs typeface="Times New Roman"/>
                <a:sym typeface="Times New Roman"/>
              </a:rPr>
              <a:t>This three-tier ecosystem directly connects remote forest apiaries to consumers. First, ESP32-powered smart hives collect real-time microclimate and weight data. Then, an immutable Polygon Blockchain ledger permanently secures this data, while a mobile app lets customers track the entire supply chain via QR codes.</a:t>
            </a:r>
            <a:endParaRPr>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accent5"/>
              </a:buClr>
              <a:buSzPts val="1400"/>
              <a:buFont typeface="Times New Roman"/>
              <a:buNone/>
            </a:pPr>
            <a:r>
              <a:t/>
            </a:r>
            <a:endParaRPr sz="1500" cap="none" strike="noStrike">
              <a:solidFill>
                <a:schemeClr val="dk1"/>
              </a:solidFill>
              <a:latin typeface="Times New Roman"/>
              <a:ea typeface="Times New Roman"/>
              <a:cs typeface="Times New Roman"/>
              <a:sym typeface="Times New Roman"/>
            </a:endParaRPr>
          </a:p>
        </p:txBody>
      </p:sp>
      <p:sp>
        <p:nvSpPr>
          <p:cNvPr id="148" name="Google Shape;148;p26"/>
          <p:cNvSpPr txBox="1"/>
          <p:nvPr/>
        </p:nvSpPr>
        <p:spPr>
          <a:xfrm>
            <a:off x="4843975" y="993179"/>
            <a:ext cx="3754200" cy="2170500"/>
          </a:xfrm>
          <a:prstGeom prst="rect">
            <a:avLst/>
          </a:prstGeom>
          <a:noFill/>
          <a:ln>
            <a:noFill/>
          </a:ln>
        </p:spPr>
        <p:txBody>
          <a:bodyPr anchorCtr="0" anchor="t" bIns="68575" lIns="68575" spcFirstLastPara="1" rIns="68575" wrap="square" tIns="68575">
            <a:spAutoFit/>
          </a:bodyPr>
          <a:lstStyle/>
          <a:p>
            <a:pPr indent="0" lvl="0" marL="0" marR="0" rtl="0" algn="just">
              <a:lnSpc>
                <a:spcPct val="115000"/>
              </a:lnSpc>
              <a:spcBef>
                <a:spcPts val="0"/>
              </a:spcBef>
              <a:spcAft>
                <a:spcPts val="0"/>
              </a:spcAft>
              <a:buNone/>
            </a:pPr>
            <a:r>
              <a:rPr b="0" i="0" lang="en" sz="1500" u="none" cap="none" strike="noStrike">
                <a:solidFill>
                  <a:schemeClr val="accent5"/>
                </a:solidFill>
                <a:latin typeface="Times New Roman"/>
                <a:ea typeface="Times New Roman"/>
                <a:cs typeface="Times New Roman"/>
                <a:sym typeface="Times New Roman"/>
              </a:rPr>
              <a:t>🚨    The Problem</a:t>
            </a:r>
            <a:endParaRPr b="0" i="0" sz="1500" u="none" cap="none" strike="noStrike">
              <a:solidFill>
                <a:schemeClr val="accent5"/>
              </a:solidFill>
              <a:latin typeface="Times New Roman"/>
              <a:ea typeface="Times New Roman"/>
              <a:cs typeface="Times New Roman"/>
              <a:sym typeface="Times New Roman"/>
            </a:endParaRPr>
          </a:p>
          <a:p>
            <a:pPr indent="0" lvl="0" marL="76200" marR="0" rtl="0" algn="just">
              <a:lnSpc>
                <a:spcPct val="115000"/>
              </a:lnSpc>
              <a:spcBef>
                <a:spcPts val="500"/>
              </a:spcBef>
              <a:spcAft>
                <a:spcPts val="0"/>
              </a:spcAft>
              <a:buNone/>
            </a:pPr>
            <a:r>
              <a:rPr lang="en">
                <a:latin typeface="Times New Roman"/>
                <a:ea typeface="Times New Roman"/>
                <a:cs typeface="Times New Roman"/>
                <a:sym typeface="Times New Roman"/>
              </a:rPr>
              <a:t>This system addresses major beekeeping issues by stopping food adulteration and eliminating blind beekeeping. It prevents the addition of cheap sugar syrups by verifying honey quantities against secure sensor logs. Additionally, it provides rural operators with instant hive health metrics without causing any physical disruptions.</a:t>
            </a:r>
            <a:endParaRPr u="none" cap="none" strike="noStrike">
              <a:solidFill>
                <a:schemeClr val="dk1"/>
              </a:solidFill>
              <a:latin typeface="Times New Roman"/>
              <a:ea typeface="Times New Roman"/>
              <a:cs typeface="Times New Roman"/>
              <a:sym typeface="Times New Roman"/>
            </a:endParaRPr>
          </a:p>
        </p:txBody>
      </p:sp>
      <p:sp>
        <p:nvSpPr>
          <p:cNvPr id="149" name="Google Shape;149;p26"/>
          <p:cNvSpPr txBox="1"/>
          <p:nvPr/>
        </p:nvSpPr>
        <p:spPr>
          <a:xfrm>
            <a:off x="296450" y="3163675"/>
            <a:ext cx="8430000" cy="13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accent5"/>
                </a:solidFill>
                <a:latin typeface="Times New Roman"/>
                <a:ea typeface="Times New Roman"/>
                <a:cs typeface="Times New Roman"/>
                <a:sym typeface="Times New Roman"/>
              </a:rPr>
              <a:t>✨</a:t>
            </a:r>
            <a:r>
              <a:rPr lang="en" sz="1600">
                <a:solidFill>
                  <a:schemeClr val="accent5"/>
                </a:solidFill>
                <a:latin typeface="Times New Roman"/>
                <a:ea typeface="Times New Roman"/>
                <a:cs typeface="Times New Roman"/>
                <a:sym typeface="Times New Roman"/>
              </a:rPr>
              <a:t> The Uniqueness</a:t>
            </a:r>
            <a:endParaRPr sz="1600">
              <a:solidFill>
                <a:schemeClr val="accent5"/>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HoneyDNA Fingerprinting and an Automated Fraud Engine. The fingerprinting system uses a custom SHA-256 backend hashing function to lock environmental parameters and lab values into a single digital key. Meanwhile, the fraud engine acts as an algorithmic referee to automatically reject out-of-sequence timestamps or impossible transit times.</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p:nvPr/>
        </p:nvSpPr>
        <p:spPr>
          <a:xfrm>
            <a:off x="0" y="4766072"/>
            <a:ext cx="9143999" cy="377429"/>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53734"/>
              </a:solidFill>
              <a:latin typeface="Calibri"/>
              <a:ea typeface="Calibri"/>
              <a:cs typeface="Calibri"/>
              <a:sym typeface="Calibri"/>
            </a:endParaRPr>
          </a:p>
        </p:txBody>
      </p:sp>
      <p:sp>
        <p:nvSpPr>
          <p:cNvPr id="156" name="Google Shape;156;p27"/>
          <p:cNvSpPr txBox="1"/>
          <p:nvPr>
            <p:ph type="title"/>
          </p:nvPr>
        </p:nvSpPr>
        <p:spPr>
          <a:xfrm>
            <a:off x="457188" y="-109069"/>
            <a:ext cx="8229600" cy="8574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n" sz="2100">
                <a:solidFill>
                  <a:schemeClr val="accent5"/>
                </a:solidFill>
                <a:latin typeface="Times New Roman"/>
                <a:ea typeface="Times New Roman"/>
                <a:cs typeface="Times New Roman"/>
                <a:sym typeface="Times New Roman"/>
              </a:rPr>
              <a:t>TECHNICAL APPROACH</a:t>
            </a:r>
            <a:endParaRPr sz="1100"/>
          </a:p>
        </p:txBody>
      </p:sp>
      <p:sp>
        <p:nvSpPr>
          <p:cNvPr id="157" name="Google Shape;157;p27"/>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b="1" lang="en" sz="1100">
                <a:solidFill>
                  <a:schemeClr val="lt1"/>
                </a:solidFill>
              </a:rPr>
              <a:t>‹#›</a:t>
            </a:fld>
            <a:endParaRPr b="1" sz="1100">
              <a:solidFill>
                <a:schemeClr val="lt1"/>
              </a:solidFill>
            </a:endParaRPr>
          </a:p>
        </p:txBody>
      </p:sp>
      <p:sp>
        <p:nvSpPr>
          <p:cNvPr id="158" name="Google Shape;158;p27"/>
          <p:cNvSpPr txBox="1"/>
          <p:nvPr>
            <p:ph idx="11" type="ftr"/>
          </p:nvPr>
        </p:nvSpPr>
        <p:spPr>
          <a:xfrm>
            <a:off x="1466491" y="4833534"/>
            <a:ext cx="6456871" cy="273844"/>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sz="1100">
                <a:solidFill>
                  <a:schemeClr val="lt1"/>
                </a:solidFill>
                <a:latin typeface="Times New Roman"/>
                <a:ea typeface="Times New Roman"/>
                <a:cs typeface="Times New Roman"/>
                <a:sym typeface="Times New Roman"/>
              </a:rPr>
              <a:t>@SIH 2026 – HoneyChain: Blockchain-Powered Honey Traceability, HoneyDNA Authentication and Smart Beekeeping Intelligence Platform</a:t>
            </a:r>
            <a:endParaRPr sz="1100">
              <a:solidFill>
                <a:schemeClr val="lt1"/>
              </a:solidFill>
              <a:latin typeface="Times New Roman"/>
              <a:ea typeface="Times New Roman"/>
              <a:cs typeface="Times New Roman"/>
              <a:sym typeface="Times New Roman"/>
            </a:endParaRPr>
          </a:p>
        </p:txBody>
      </p:sp>
      <p:pic>
        <p:nvPicPr>
          <p:cNvPr id="159" name="Google Shape;159;p27"/>
          <p:cNvPicPr preferRelativeResize="0"/>
          <p:nvPr/>
        </p:nvPicPr>
        <p:blipFill rotWithShape="1">
          <a:blip r:embed="rId3">
            <a:alphaModFix/>
          </a:blip>
          <a:srcRect b="0" l="0" r="0" t="0"/>
          <a:stretch/>
        </p:blipFill>
        <p:spPr>
          <a:xfrm>
            <a:off x="7335065" y="1125"/>
            <a:ext cx="1687388" cy="796753"/>
          </a:xfrm>
          <a:prstGeom prst="rect">
            <a:avLst/>
          </a:prstGeom>
          <a:noFill/>
          <a:ln>
            <a:noFill/>
          </a:ln>
        </p:spPr>
      </p:pic>
      <p:pic>
        <p:nvPicPr>
          <p:cNvPr id="160" name="Google Shape;160;p27"/>
          <p:cNvPicPr preferRelativeResize="0"/>
          <p:nvPr/>
        </p:nvPicPr>
        <p:blipFill rotWithShape="1">
          <a:blip r:embed="rId4">
            <a:alphaModFix/>
          </a:blip>
          <a:srcRect b="0" l="0" r="0" t="0"/>
          <a:stretch/>
        </p:blipFill>
        <p:spPr>
          <a:xfrm>
            <a:off x="67144" y="1125"/>
            <a:ext cx="1055992" cy="992038"/>
          </a:xfrm>
          <a:prstGeom prst="rect">
            <a:avLst/>
          </a:prstGeom>
          <a:solidFill>
            <a:schemeClr val="lt1"/>
          </a:solidFill>
          <a:ln>
            <a:noFill/>
          </a:ln>
        </p:spPr>
      </p:pic>
      <p:sp>
        <p:nvSpPr>
          <p:cNvPr id="161" name="Google Shape;161;p27"/>
          <p:cNvSpPr txBox="1"/>
          <p:nvPr/>
        </p:nvSpPr>
        <p:spPr>
          <a:xfrm>
            <a:off x="971100" y="582150"/>
            <a:ext cx="7715700" cy="1989600"/>
          </a:xfrm>
          <a:prstGeom prst="rect">
            <a:avLst/>
          </a:prstGeom>
          <a:noFill/>
          <a:ln>
            <a:noFill/>
          </a:ln>
        </p:spPr>
        <p:txBody>
          <a:bodyPr anchorCtr="0" anchor="t" bIns="68575" lIns="68575" spcFirstLastPara="1" rIns="68575" wrap="square" tIns="68575">
            <a:noAutofit/>
          </a:bodyPr>
          <a:lstStyle/>
          <a:p>
            <a:pPr indent="0" lvl="0" marL="0" marR="0" rtl="0" algn="just">
              <a:lnSpc>
                <a:spcPct val="115000"/>
              </a:lnSpc>
              <a:spcBef>
                <a:spcPts val="0"/>
              </a:spcBef>
              <a:spcAft>
                <a:spcPts val="0"/>
              </a:spcAft>
              <a:buClr>
                <a:schemeClr val="dk1"/>
              </a:buClr>
              <a:buSzPts val="1400"/>
              <a:buFont typeface="Times New Roman"/>
              <a:buNone/>
            </a:pPr>
            <a:r>
              <a:rPr b="0" i="0" lang="en" sz="1400" u="none" cap="none" strike="noStrike">
                <a:solidFill>
                  <a:schemeClr val="dk1"/>
                </a:solidFill>
                <a:latin typeface="Times New Roman"/>
                <a:ea typeface="Times New Roman"/>
                <a:cs typeface="Times New Roman"/>
                <a:sym typeface="Times New Roman"/>
              </a:rPr>
              <a:t>  </a:t>
            </a:r>
            <a:r>
              <a:rPr b="0" i="0" lang="en" sz="1500" u="none" cap="none" strike="noStrike">
                <a:solidFill>
                  <a:schemeClr val="accent5"/>
                </a:solidFill>
                <a:latin typeface="Times New Roman"/>
                <a:ea typeface="Times New Roman"/>
                <a:cs typeface="Times New Roman"/>
                <a:sym typeface="Times New Roman"/>
              </a:rPr>
              <a:t>💡</a:t>
            </a:r>
            <a:r>
              <a:rPr b="0" i="0" lang="en" sz="1600" u="none" cap="none" strike="noStrike">
                <a:solidFill>
                  <a:schemeClr val="accent5"/>
                </a:solidFill>
                <a:latin typeface="Times New Roman"/>
                <a:ea typeface="Times New Roman"/>
                <a:cs typeface="Times New Roman"/>
                <a:sym typeface="Times New Roman"/>
              </a:rPr>
              <a:t> </a:t>
            </a:r>
            <a:r>
              <a:rPr b="0" i="0" lang="en" sz="1700" u="none" cap="none" strike="noStrike">
                <a:solidFill>
                  <a:schemeClr val="accent5"/>
                </a:solidFill>
                <a:latin typeface="Times New Roman"/>
                <a:ea typeface="Times New Roman"/>
                <a:cs typeface="Times New Roman"/>
                <a:sym typeface="Times New Roman"/>
              </a:rPr>
              <a:t>Technologies to be Used</a:t>
            </a:r>
            <a:endParaRPr sz="1600">
              <a:solidFill>
                <a:schemeClr val="accent5"/>
              </a:solidFill>
              <a:latin typeface="Times New Roman"/>
              <a:ea typeface="Times New Roman"/>
              <a:cs typeface="Times New Roman"/>
              <a:sym typeface="Times New Roman"/>
            </a:endParaRPr>
          </a:p>
          <a:p>
            <a:pPr indent="-317500" lvl="0" marL="457200" marR="0" rtl="0" algn="l">
              <a:lnSpc>
                <a:spcPct val="115000"/>
              </a:lnSpc>
              <a:spcBef>
                <a:spcPts val="0"/>
              </a:spcBef>
              <a:spcAft>
                <a:spcPts val="0"/>
              </a:spcAft>
              <a:buSzPts val="1400"/>
              <a:buFont typeface="Times New Roman"/>
              <a:buChar char="❖"/>
            </a:pPr>
            <a:r>
              <a:rPr lang="en">
                <a:solidFill>
                  <a:schemeClr val="dk1"/>
                </a:solidFill>
                <a:latin typeface="Times New Roman"/>
                <a:ea typeface="Times New Roman"/>
                <a:cs typeface="Times New Roman"/>
                <a:sym typeface="Times New Roman"/>
              </a:rPr>
              <a:t>Sensing &amp; Edge</a:t>
            </a:r>
            <a:r>
              <a:rPr lang="en">
                <a:solidFill>
                  <a:schemeClr val="dk1"/>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 ESP32 Microcontrollers, DHT22 (Climate), HX711 Load Cells (Mass Metrics), LoRaWAN,Tiny-ML Analyser.</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Trust Ledger: Solidity Contracts, Polygon PoS Network, IPFS (Decentralized Report File Storage).</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Core Infrastructure: Node.js, Express Framework, PostgreSQL Database, Flutter (Cross-Platform UI App).</a:t>
            </a:r>
            <a:endParaRPr>
              <a:solidFill>
                <a:schemeClr val="dk1"/>
              </a:solidFill>
              <a:latin typeface="Times New Roman"/>
              <a:ea typeface="Times New Roman"/>
              <a:cs typeface="Times New Roman"/>
              <a:sym typeface="Times New Roman"/>
            </a:endParaRPr>
          </a:p>
          <a:p>
            <a:pPr indent="0" lvl="0" marL="0" marR="0" rtl="0" algn="just">
              <a:lnSpc>
                <a:spcPct val="115000"/>
              </a:lnSpc>
              <a:spcBef>
                <a:spcPts val="500"/>
              </a:spcBef>
              <a:spcAft>
                <a:spcPts val="0"/>
              </a:spcAft>
              <a:buClr>
                <a:schemeClr val="dk1"/>
              </a:buClr>
              <a:buSzPts val="1400"/>
              <a:buFont typeface="Times New Roman"/>
              <a:buNone/>
            </a:pPr>
            <a:r>
              <a:t/>
            </a:r>
            <a:endParaRPr>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400"/>
              <a:buFont typeface="Calibri"/>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accent5"/>
              </a:buClr>
              <a:buSzPts val="1400"/>
              <a:buFont typeface="Times New Roman"/>
              <a:buNone/>
            </a:pPr>
            <a:r>
              <a:rPr b="0" i="0" lang="en" sz="1400" u="none" cap="none" strike="noStrike">
                <a:solidFill>
                  <a:schemeClr val="accent5"/>
                </a:solidFill>
                <a:latin typeface="Times New Roman"/>
                <a:ea typeface="Times New Roman"/>
                <a:cs typeface="Times New Roman"/>
                <a:sym typeface="Times New Roman"/>
              </a:rPr>
              <a:t>✨ Methodology and Process implementation - </a:t>
            </a:r>
            <a:r>
              <a:rPr b="0" i="0" lang="en" sz="1400" u="none" cap="none" strike="noStrike">
                <a:solidFill>
                  <a:schemeClr val="dk1"/>
                </a:solidFill>
                <a:latin typeface="Times New Roman"/>
                <a:ea typeface="Times New Roman"/>
                <a:cs typeface="Times New Roman"/>
                <a:sym typeface="Times New Roman"/>
              </a:rPr>
              <a:t>Pipeline shown below: data to alert in six stages</a:t>
            </a:r>
            <a:endParaRPr sz="1100"/>
          </a:p>
          <a:p>
            <a:pPr indent="0" lvl="0" marL="0" marR="0" rtl="0" algn="just">
              <a:lnSpc>
                <a:spcPct val="115000"/>
              </a:lnSpc>
              <a:spcBef>
                <a:spcPts val="0"/>
              </a:spcBef>
              <a:spcAft>
                <a:spcPts val="0"/>
              </a:spcAft>
              <a:buClr>
                <a:schemeClr val="dk1"/>
              </a:buClr>
              <a:buSzPts val="1400"/>
              <a:buFont typeface="Calibri"/>
              <a:buNone/>
            </a:pPr>
            <a:r>
              <a:t/>
            </a:r>
            <a:endParaRPr b="0" i="0" sz="1400" u="none" cap="none" strike="noStrike">
              <a:solidFill>
                <a:schemeClr val="dk1"/>
              </a:solidFill>
              <a:latin typeface="Times New Roman"/>
              <a:ea typeface="Times New Roman"/>
              <a:cs typeface="Times New Roman"/>
              <a:sym typeface="Times New Roman"/>
            </a:endParaRPr>
          </a:p>
        </p:txBody>
      </p:sp>
      <p:pic>
        <p:nvPicPr>
          <p:cNvPr id="162" name="Google Shape;162;p27" title="WhatsApp Image 2026-09-12 at 21.28.52.jpeg"/>
          <p:cNvPicPr preferRelativeResize="0"/>
          <p:nvPr/>
        </p:nvPicPr>
        <p:blipFill>
          <a:blip r:embed="rId5">
            <a:alphaModFix/>
          </a:blip>
          <a:stretch>
            <a:fillRect/>
          </a:stretch>
        </p:blipFill>
        <p:spPr>
          <a:xfrm>
            <a:off x="922250" y="2286600"/>
            <a:ext cx="7545376" cy="2536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p:nvPr/>
        </p:nvSpPr>
        <p:spPr>
          <a:xfrm>
            <a:off x="0" y="4767265"/>
            <a:ext cx="9143999" cy="377429"/>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169" name="Google Shape;169;p28"/>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n" sz="2100">
                <a:solidFill>
                  <a:schemeClr val="accent5"/>
                </a:solidFill>
                <a:latin typeface="Times New Roman"/>
                <a:ea typeface="Times New Roman"/>
                <a:cs typeface="Times New Roman"/>
                <a:sym typeface="Times New Roman"/>
              </a:rPr>
              <a:t>FEASIBILITY AND VIABILITY</a:t>
            </a:r>
            <a:endParaRPr sz="1100"/>
          </a:p>
        </p:txBody>
      </p:sp>
      <p:sp>
        <p:nvSpPr>
          <p:cNvPr id="170" name="Google Shape;170;p28"/>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pic>
        <p:nvPicPr>
          <p:cNvPr id="171" name="Google Shape;171;p28"/>
          <p:cNvPicPr preferRelativeResize="0"/>
          <p:nvPr/>
        </p:nvPicPr>
        <p:blipFill rotWithShape="1">
          <a:blip r:embed="rId3">
            <a:alphaModFix/>
          </a:blip>
          <a:srcRect b="0" l="0" r="0" t="0"/>
          <a:stretch/>
        </p:blipFill>
        <p:spPr>
          <a:xfrm>
            <a:off x="7335065" y="1125"/>
            <a:ext cx="1687388" cy="796753"/>
          </a:xfrm>
          <a:prstGeom prst="rect">
            <a:avLst/>
          </a:prstGeom>
          <a:noFill/>
          <a:ln>
            <a:noFill/>
          </a:ln>
        </p:spPr>
      </p:pic>
      <p:pic>
        <p:nvPicPr>
          <p:cNvPr id="172" name="Google Shape;172;p28"/>
          <p:cNvPicPr preferRelativeResize="0"/>
          <p:nvPr/>
        </p:nvPicPr>
        <p:blipFill rotWithShape="1">
          <a:blip r:embed="rId4">
            <a:alphaModFix/>
          </a:blip>
          <a:srcRect b="0" l="0" r="0" t="0"/>
          <a:stretch/>
        </p:blipFill>
        <p:spPr>
          <a:xfrm>
            <a:off x="67144" y="1125"/>
            <a:ext cx="1055992" cy="992038"/>
          </a:xfrm>
          <a:prstGeom prst="rect">
            <a:avLst/>
          </a:prstGeom>
          <a:solidFill>
            <a:schemeClr val="lt1"/>
          </a:solidFill>
          <a:ln>
            <a:noFill/>
          </a:ln>
        </p:spPr>
      </p:pic>
      <p:sp>
        <p:nvSpPr>
          <p:cNvPr id="173" name="Google Shape;173;p28"/>
          <p:cNvSpPr txBox="1"/>
          <p:nvPr/>
        </p:nvSpPr>
        <p:spPr>
          <a:xfrm>
            <a:off x="147600" y="873588"/>
            <a:ext cx="4828200" cy="3893400"/>
          </a:xfrm>
          <a:prstGeom prst="rect">
            <a:avLst/>
          </a:prstGeom>
          <a:noFill/>
          <a:ln>
            <a:noFill/>
          </a:ln>
        </p:spPr>
        <p:txBody>
          <a:bodyPr anchorCtr="0" anchor="t" bIns="68575" lIns="68575" spcFirstLastPara="1" rIns="68575" wrap="square" tIns="68575">
            <a:noAutofit/>
          </a:bodyPr>
          <a:lstStyle/>
          <a:p>
            <a:pPr indent="0" lvl="0" marL="0" marR="0" rtl="0" algn="just">
              <a:lnSpc>
                <a:spcPct val="115000"/>
              </a:lnSpc>
              <a:spcBef>
                <a:spcPts val="0"/>
              </a:spcBef>
              <a:spcAft>
                <a:spcPts val="0"/>
              </a:spcAft>
              <a:buClr>
                <a:schemeClr val="dk1"/>
              </a:buClr>
              <a:buSzPts val="1400"/>
              <a:buFont typeface="Times New Roman"/>
              <a:buNone/>
            </a:pPr>
            <a:r>
              <a:rPr b="0" i="0" lang="en" sz="1400" u="none" cap="none" strike="noStrike">
                <a:solidFill>
                  <a:schemeClr val="dk1"/>
                </a:solidFill>
                <a:latin typeface="Times New Roman"/>
                <a:ea typeface="Times New Roman"/>
                <a:cs typeface="Times New Roman"/>
                <a:sym typeface="Times New Roman"/>
              </a:rPr>
              <a:t>  </a:t>
            </a:r>
            <a:r>
              <a:rPr b="0" i="0" lang="en" sz="1500" u="none" cap="none" strike="noStrike">
                <a:solidFill>
                  <a:schemeClr val="accent5"/>
                </a:solidFill>
                <a:latin typeface="Times New Roman"/>
                <a:ea typeface="Times New Roman"/>
                <a:cs typeface="Times New Roman"/>
                <a:sym typeface="Times New Roman"/>
              </a:rPr>
              <a:t>💡 Feasibility of the idea</a:t>
            </a:r>
            <a:endParaRPr b="0" i="0" sz="1500" u="none" cap="none" strike="noStrike">
              <a:solidFill>
                <a:schemeClr val="accent5"/>
              </a:solidFill>
              <a:latin typeface="Times New Roman"/>
              <a:ea typeface="Times New Roman"/>
              <a:cs typeface="Times New Roman"/>
              <a:sym typeface="Times New Roman"/>
            </a:endParaRPr>
          </a:p>
          <a:p>
            <a:pPr indent="-317500" lvl="0" marL="457200" rtl="0" algn="just">
              <a:lnSpc>
                <a:spcPct val="115000"/>
              </a:lnSpc>
              <a:spcBef>
                <a:spcPts val="50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Uses affordable IoT sensors, ESP32, cloud storage, QR codes and blockchain technology.</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Can be developed as a working prototype with existing technologies.</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Easy to scale from a few hives to large honey supply chains.</a:t>
            </a:r>
            <a:endParaRPr>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400"/>
              <a:buFont typeface="Calibri"/>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accent5"/>
              </a:buClr>
              <a:buSzPts val="1400"/>
              <a:buFont typeface="Times New Roman"/>
              <a:buNone/>
            </a:pPr>
            <a:r>
              <a:rPr b="0" i="0" lang="en" sz="1400" u="none" cap="none" strike="noStrike">
                <a:solidFill>
                  <a:schemeClr val="accent5"/>
                </a:solidFill>
                <a:latin typeface="Times New Roman"/>
                <a:ea typeface="Times New Roman"/>
                <a:cs typeface="Times New Roman"/>
                <a:sym typeface="Times New Roman"/>
              </a:rPr>
              <a:t>✨ Challenges and risks</a:t>
            </a:r>
            <a:endParaRPr b="0" i="0" sz="1400" u="none" cap="none" strike="noStrike">
              <a:solidFill>
                <a:schemeClr val="accent5"/>
              </a:solidFill>
              <a:latin typeface="Times New Roman"/>
              <a:ea typeface="Times New Roman"/>
              <a:cs typeface="Times New Roman"/>
              <a:sym typeface="Times New Roman"/>
            </a:endParaRPr>
          </a:p>
          <a:p>
            <a:pPr indent="-317500" lvl="0" marL="457200" rtl="0" algn="just">
              <a:lnSpc>
                <a:spcPct val="115000"/>
              </a:lnSpc>
              <a:spcBef>
                <a:spcPts val="50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Poor connectivity and sensor errors may affect data reliability.</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Farmer, lab and distributor adoption may be difficult initially.</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Use calibrated sensors, data validation and a simple low-cost interface to reduce risks.</a:t>
            </a:r>
            <a:endParaRPr>
              <a:solidFill>
                <a:schemeClr val="dk1"/>
              </a:solidFill>
              <a:latin typeface="Times New Roman"/>
              <a:ea typeface="Times New Roman"/>
              <a:cs typeface="Times New Roman"/>
              <a:sym typeface="Times New Roman"/>
            </a:endParaRPr>
          </a:p>
          <a:p>
            <a:pPr indent="0" lvl="0" marL="76200" rtl="0" algn="just">
              <a:lnSpc>
                <a:spcPct val="115000"/>
              </a:lnSpc>
              <a:spcBef>
                <a:spcPts val="5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76200" marR="0" rtl="0" algn="just">
              <a:lnSpc>
                <a:spcPct val="115000"/>
              </a:lnSpc>
              <a:spcBef>
                <a:spcPts val="500"/>
              </a:spcBef>
              <a:spcAft>
                <a:spcPts val="0"/>
              </a:spcAft>
              <a:buClr>
                <a:schemeClr val="dk1"/>
              </a:buClr>
              <a:buSzPts val="800"/>
              <a:buFont typeface="Arial"/>
              <a:buNone/>
            </a:pPr>
            <a:r>
              <a:t/>
            </a:r>
            <a:endParaRPr>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400"/>
              <a:buFont typeface="Calibri"/>
              <a:buNone/>
            </a:pPr>
            <a:r>
              <a:t/>
            </a:r>
            <a:endParaRPr b="0" i="0" sz="1400" u="none" cap="none" strike="noStrike">
              <a:solidFill>
                <a:schemeClr val="dk1"/>
              </a:solidFill>
              <a:latin typeface="Times New Roman"/>
              <a:ea typeface="Times New Roman"/>
              <a:cs typeface="Times New Roman"/>
              <a:sym typeface="Times New Roman"/>
            </a:endParaRPr>
          </a:p>
        </p:txBody>
      </p:sp>
      <p:sp>
        <p:nvSpPr>
          <p:cNvPr id="174" name="Google Shape;174;p28"/>
          <p:cNvSpPr txBox="1"/>
          <p:nvPr/>
        </p:nvSpPr>
        <p:spPr>
          <a:xfrm>
            <a:off x="5096833" y="1743039"/>
            <a:ext cx="3711000" cy="2271600"/>
          </a:xfrm>
          <a:prstGeom prst="rect">
            <a:avLst/>
          </a:prstGeom>
          <a:noFill/>
          <a:ln>
            <a:noFill/>
          </a:ln>
        </p:spPr>
        <p:txBody>
          <a:bodyPr anchorCtr="0" anchor="t" bIns="68575" lIns="68575" spcFirstLastPara="1" rIns="68575" wrap="square" tIns="68575">
            <a:spAutoFit/>
          </a:bodyPr>
          <a:lstStyle/>
          <a:p>
            <a:pPr indent="0" lvl="0" marL="0" marR="0" rtl="0" algn="l">
              <a:spcBef>
                <a:spcPts val="0"/>
              </a:spcBef>
              <a:spcAft>
                <a:spcPts val="0"/>
              </a:spcAft>
              <a:buClr>
                <a:schemeClr val="dk1"/>
              </a:buClr>
              <a:buSzPts val="1500"/>
              <a:buFont typeface="Calibri"/>
              <a:buNone/>
            </a:pPr>
            <a:r>
              <a:t/>
            </a:r>
            <a:endParaRPr b="0" i="0" sz="1500" u="none" cap="none" strike="noStrike">
              <a:solidFill>
                <a:schemeClr val="dk1"/>
              </a:solidFill>
              <a:latin typeface="Oswald"/>
              <a:ea typeface="Oswald"/>
              <a:cs typeface="Oswald"/>
              <a:sym typeface="Oswald"/>
            </a:endParaRPr>
          </a:p>
          <a:p>
            <a:pPr indent="0" lvl="0" marL="0" marR="0" rtl="0" algn="just">
              <a:lnSpc>
                <a:spcPct val="115000"/>
              </a:lnSpc>
              <a:spcBef>
                <a:spcPts val="0"/>
              </a:spcBef>
              <a:spcAft>
                <a:spcPts val="0"/>
              </a:spcAft>
              <a:buClr>
                <a:schemeClr val="accent5"/>
              </a:buClr>
              <a:buSzPts val="1500"/>
              <a:buFont typeface="Times New Roman"/>
              <a:buNone/>
            </a:pPr>
            <a:r>
              <a:rPr b="0" i="0" lang="en" sz="1500" u="none" cap="none" strike="noStrike">
                <a:solidFill>
                  <a:schemeClr val="accent5"/>
                </a:solidFill>
                <a:latin typeface="Times New Roman"/>
                <a:ea typeface="Times New Roman"/>
                <a:cs typeface="Times New Roman"/>
                <a:sym typeface="Times New Roman"/>
              </a:rPr>
              <a:t>🛡️ Strategic Solutions</a:t>
            </a:r>
            <a:endParaRPr sz="1100"/>
          </a:p>
          <a:p>
            <a:pPr indent="-317500" lvl="0" marL="457200" marR="0" rtl="0" algn="just">
              <a:spcBef>
                <a:spcPts val="50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Connect hive, laboratory and logistics data into one unified platform.</a:t>
            </a:r>
            <a:endParaRPr>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Generate HoneyDNA and use the Journey Anomaly Engine to detect fraud.</a:t>
            </a:r>
            <a:endParaRPr>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Provide consumers with a QR-based verified honey journey.</a:t>
            </a:r>
            <a:endParaRPr>
              <a:solidFill>
                <a:schemeClr val="dk1"/>
              </a:solidFill>
              <a:latin typeface="Times New Roman"/>
              <a:ea typeface="Times New Roman"/>
              <a:cs typeface="Times New Roman"/>
              <a:sym typeface="Times New Roman"/>
            </a:endParaRPr>
          </a:p>
          <a:p>
            <a:pPr indent="0" lvl="0" marL="0" marR="0" rtl="0" algn="just">
              <a:spcBef>
                <a:spcPts val="500"/>
              </a:spcBef>
              <a:spcAft>
                <a:spcPts val="0"/>
              </a:spcAft>
              <a:buClr>
                <a:schemeClr val="dk1"/>
              </a:buClr>
              <a:buSzPts val="1500"/>
              <a:buFont typeface="Times New Roman"/>
              <a:buNone/>
            </a:pPr>
            <a:r>
              <a:t/>
            </a:r>
            <a:endParaRPr>
              <a:solidFill>
                <a:schemeClr val="dk1"/>
              </a:solidFill>
              <a:latin typeface="Times New Roman"/>
              <a:ea typeface="Times New Roman"/>
              <a:cs typeface="Times New Roman"/>
              <a:sym typeface="Times New Roman"/>
            </a:endParaRPr>
          </a:p>
        </p:txBody>
      </p:sp>
      <p:sp>
        <p:nvSpPr>
          <p:cNvPr id="175" name="Google Shape;175;p28"/>
          <p:cNvSpPr txBox="1"/>
          <p:nvPr>
            <p:ph idx="11" type="ftr"/>
          </p:nvPr>
        </p:nvSpPr>
        <p:spPr>
          <a:xfrm>
            <a:off x="1682151" y="4819057"/>
            <a:ext cx="6327476" cy="273844"/>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@SIH 2026 – HoneyChain: Blockchain-Powered Honey Traceability, HoneyDNA Authentication and Smart Beekeeping Intelligence Platform</a:t>
            </a:r>
            <a:endParaRPr sz="11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p:nvPr/>
        </p:nvSpPr>
        <p:spPr>
          <a:xfrm>
            <a:off x="0" y="4766072"/>
            <a:ext cx="9143999" cy="377429"/>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182" name="Google Shape;182;p29"/>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n" sz="2100">
                <a:solidFill>
                  <a:schemeClr val="accent5"/>
                </a:solidFill>
                <a:latin typeface="Times New Roman"/>
                <a:ea typeface="Times New Roman"/>
                <a:cs typeface="Times New Roman"/>
                <a:sym typeface="Times New Roman"/>
              </a:rPr>
              <a:t>IMPACT AND BENEFITS</a:t>
            </a:r>
            <a:endParaRPr sz="1100"/>
          </a:p>
        </p:txBody>
      </p:sp>
      <p:sp>
        <p:nvSpPr>
          <p:cNvPr id="183" name="Google Shape;183;p29"/>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184" name="Google Shape;184;p29"/>
          <p:cNvSpPr txBox="1"/>
          <p:nvPr>
            <p:ph idx="11" type="ftr"/>
          </p:nvPr>
        </p:nvSpPr>
        <p:spPr>
          <a:xfrm>
            <a:off x="1440611" y="4825493"/>
            <a:ext cx="6577642" cy="273844"/>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@SIH 2026 – HoneyChain: Blockchain-Powered Honey Traceability, HoneyDNA Authentication and Smart Beekeeping Intelligence Platform</a:t>
            </a:r>
            <a:endParaRPr sz="1100">
              <a:solidFill>
                <a:schemeClr val="lt1"/>
              </a:solidFill>
              <a:latin typeface="Times New Roman"/>
              <a:ea typeface="Times New Roman"/>
              <a:cs typeface="Times New Roman"/>
              <a:sym typeface="Times New Roman"/>
            </a:endParaRPr>
          </a:p>
        </p:txBody>
      </p:sp>
      <p:pic>
        <p:nvPicPr>
          <p:cNvPr id="185" name="Google Shape;185;p29"/>
          <p:cNvPicPr preferRelativeResize="0"/>
          <p:nvPr/>
        </p:nvPicPr>
        <p:blipFill rotWithShape="1">
          <a:blip r:embed="rId3">
            <a:alphaModFix/>
          </a:blip>
          <a:srcRect b="0" l="0" r="0" t="0"/>
          <a:stretch/>
        </p:blipFill>
        <p:spPr>
          <a:xfrm>
            <a:off x="7335065" y="1125"/>
            <a:ext cx="1687388" cy="796753"/>
          </a:xfrm>
          <a:prstGeom prst="rect">
            <a:avLst/>
          </a:prstGeom>
          <a:noFill/>
          <a:ln>
            <a:noFill/>
          </a:ln>
        </p:spPr>
      </p:pic>
      <p:pic>
        <p:nvPicPr>
          <p:cNvPr id="186" name="Google Shape;186;p29"/>
          <p:cNvPicPr preferRelativeResize="0"/>
          <p:nvPr/>
        </p:nvPicPr>
        <p:blipFill rotWithShape="1">
          <a:blip r:embed="rId4">
            <a:alphaModFix/>
          </a:blip>
          <a:srcRect b="0" l="0" r="0" t="0"/>
          <a:stretch/>
        </p:blipFill>
        <p:spPr>
          <a:xfrm>
            <a:off x="67144" y="1125"/>
            <a:ext cx="1055992" cy="992038"/>
          </a:xfrm>
          <a:prstGeom prst="rect">
            <a:avLst/>
          </a:prstGeom>
          <a:solidFill>
            <a:schemeClr val="lt1"/>
          </a:solidFill>
          <a:ln>
            <a:noFill/>
          </a:ln>
        </p:spPr>
      </p:pic>
      <p:sp>
        <p:nvSpPr>
          <p:cNvPr id="187" name="Google Shape;187;p29"/>
          <p:cNvSpPr txBox="1"/>
          <p:nvPr/>
        </p:nvSpPr>
        <p:spPr>
          <a:xfrm>
            <a:off x="355343" y="1223681"/>
            <a:ext cx="3812850" cy="4036275"/>
          </a:xfrm>
          <a:prstGeom prst="rect">
            <a:avLst/>
          </a:prstGeom>
          <a:noFill/>
          <a:ln>
            <a:noFill/>
          </a:ln>
        </p:spPr>
        <p:txBody>
          <a:bodyPr anchorCtr="0" anchor="t" bIns="68575" lIns="68575" spcFirstLastPara="1" rIns="68575" wrap="square" tIns="68575">
            <a:noAutofit/>
          </a:bodyPr>
          <a:lstStyle/>
          <a:p>
            <a:pPr indent="0" lvl="0" marL="0" marR="0" rtl="0" algn="just">
              <a:lnSpc>
                <a:spcPct val="115000"/>
              </a:lnSpc>
              <a:spcBef>
                <a:spcPts val="0"/>
              </a:spcBef>
              <a:spcAft>
                <a:spcPts val="0"/>
              </a:spcAft>
              <a:buClr>
                <a:schemeClr val="dk1"/>
              </a:buClr>
              <a:buSzPts val="1400"/>
              <a:buFont typeface="Times New Roman"/>
              <a:buNone/>
            </a:pPr>
            <a:r>
              <a:rPr b="0" i="0" lang="en" sz="1400" u="none" cap="none" strike="noStrike">
                <a:solidFill>
                  <a:schemeClr val="dk1"/>
                </a:solidFill>
                <a:latin typeface="Times New Roman"/>
                <a:ea typeface="Times New Roman"/>
                <a:cs typeface="Times New Roman"/>
                <a:sym typeface="Times New Roman"/>
              </a:rPr>
              <a:t>  </a:t>
            </a:r>
            <a:r>
              <a:rPr b="0" i="0" lang="en" sz="1500" u="none" cap="none" strike="noStrike">
                <a:solidFill>
                  <a:schemeClr val="accent5"/>
                </a:solidFill>
                <a:latin typeface="Times New Roman"/>
                <a:ea typeface="Times New Roman"/>
                <a:cs typeface="Times New Roman"/>
                <a:sym typeface="Times New Roman"/>
              </a:rPr>
              <a:t>💡 Impact on the targeted audience</a:t>
            </a:r>
            <a:br>
              <a:rPr b="0" i="0" lang="en" sz="1500" u="none" cap="none" strike="noStrike">
                <a:solidFill>
                  <a:schemeClr val="accent5"/>
                </a:solidFill>
                <a:latin typeface="Times New Roman"/>
                <a:ea typeface="Times New Roman"/>
                <a:cs typeface="Times New Roman"/>
                <a:sym typeface="Times New Roman"/>
              </a:rPr>
            </a:br>
            <a:r>
              <a:rPr lang="en" sz="1500">
                <a:solidFill>
                  <a:schemeClr val="dk1"/>
                </a:solidFill>
                <a:latin typeface="Times New Roman"/>
                <a:ea typeface="Times New Roman"/>
                <a:cs typeface="Times New Roman"/>
                <a:sym typeface="Times New Roman"/>
              </a:rPr>
              <a:t>*</a:t>
            </a:r>
            <a:r>
              <a:rPr b="0" i="0" lang="en" sz="1500" u="none" cap="none" strike="noStrike">
                <a:solidFill>
                  <a:schemeClr val="accent5"/>
                </a:solidFill>
                <a:latin typeface="Times New Roman"/>
                <a:ea typeface="Times New Roman"/>
                <a:cs typeface="Times New Roman"/>
                <a:sym typeface="Times New Roman"/>
              </a:rPr>
              <a:t> </a:t>
            </a:r>
            <a:r>
              <a:rPr b="0" i="0" lang="en" sz="1500" u="none" cap="none" strike="noStrike">
                <a:solidFill>
                  <a:schemeClr val="dk1"/>
                </a:solidFill>
                <a:latin typeface="Times New Roman"/>
                <a:ea typeface="Times New Roman"/>
                <a:cs typeface="Times New Roman"/>
                <a:sym typeface="Times New Roman"/>
              </a:rPr>
              <a:t>Rural Beekeepers: Connects local, small-scale tribal beekeepers directly to trusted public marketplaces.</a:t>
            </a:r>
            <a:endParaRPr b="0" i="0" sz="1500" u="none" cap="none" strike="noStrike">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b="0" i="0" lang="en" sz="1500" u="none" cap="none" strike="noStrike">
                <a:solidFill>
                  <a:schemeClr val="dk1"/>
                </a:solidFill>
                <a:latin typeface="Times New Roman"/>
                <a:ea typeface="Times New Roman"/>
                <a:cs typeface="Times New Roman"/>
                <a:sym typeface="Times New Roman"/>
              </a:rPr>
              <a:t>* End Consumers: Gives buyers absolute verification that the honey they purchase matches safety standards.</a:t>
            </a:r>
            <a:endParaRPr b="0" i="0" sz="1500" u="none" cap="none" strike="noStrike">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t/>
            </a:r>
            <a:endParaRPr b="0" i="0" sz="1500" u="none" cap="none" strike="noStrike">
              <a:solidFill>
                <a:schemeClr val="accent5"/>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400"/>
              <a:buFont typeface="Times New Roman"/>
              <a:buNone/>
            </a:pPr>
            <a:r>
              <a:t/>
            </a:r>
            <a:endParaRPr sz="1500">
              <a:solidFill>
                <a:schemeClr val="accent5"/>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400"/>
              <a:buFont typeface="Calibri"/>
              <a:buNone/>
            </a:pPr>
            <a:r>
              <a:t/>
            </a:r>
            <a:endParaRPr b="0" i="0" sz="1400" u="none" cap="none" strike="noStrike">
              <a:solidFill>
                <a:schemeClr val="dk1"/>
              </a:solidFill>
              <a:latin typeface="Times New Roman"/>
              <a:ea typeface="Times New Roman"/>
              <a:cs typeface="Times New Roman"/>
              <a:sym typeface="Times New Roman"/>
            </a:endParaRPr>
          </a:p>
        </p:txBody>
      </p:sp>
      <p:sp>
        <p:nvSpPr>
          <p:cNvPr id="188" name="Google Shape;188;p29"/>
          <p:cNvSpPr txBox="1"/>
          <p:nvPr/>
        </p:nvSpPr>
        <p:spPr>
          <a:xfrm>
            <a:off x="4749671" y="1127521"/>
            <a:ext cx="3812850" cy="3265222"/>
          </a:xfrm>
          <a:prstGeom prst="rect">
            <a:avLst/>
          </a:prstGeom>
          <a:noFill/>
          <a:ln>
            <a:noFill/>
          </a:ln>
        </p:spPr>
        <p:txBody>
          <a:bodyPr anchorCtr="0" anchor="t" bIns="68575" lIns="68575" spcFirstLastPara="1" rIns="68575" wrap="square" tIns="68575">
            <a:noAutofit/>
          </a:bodyPr>
          <a:lstStyle/>
          <a:p>
            <a:pPr indent="0" lvl="0" marL="0" marR="0" rtl="0" algn="just">
              <a:lnSpc>
                <a:spcPct val="115000"/>
              </a:lnSpc>
              <a:spcBef>
                <a:spcPts val="0"/>
              </a:spcBef>
              <a:spcAft>
                <a:spcPts val="0"/>
              </a:spcAft>
              <a:buNone/>
            </a:pPr>
            <a:r>
              <a:rPr b="0" i="0" lang="en" sz="1400" u="none" cap="none" strike="noStrike">
                <a:solidFill>
                  <a:schemeClr val="accent5"/>
                </a:solidFill>
                <a:latin typeface="Times New Roman"/>
                <a:ea typeface="Times New Roman"/>
                <a:cs typeface="Times New Roman"/>
                <a:sym typeface="Times New Roman"/>
              </a:rPr>
              <a:t>✨ Benefits of the solution</a:t>
            </a:r>
            <a:br>
              <a:rPr b="0" i="0" lang="en" sz="1400" u="none" cap="none" strike="noStrike">
                <a:solidFill>
                  <a:schemeClr val="accent5"/>
                </a:solidFill>
                <a:latin typeface="Times New Roman"/>
                <a:ea typeface="Times New Roman"/>
                <a:cs typeface="Times New Roman"/>
                <a:sym typeface="Times New Roman"/>
              </a:rPr>
            </a:br>
            <a:r>
              <a:rPr b="0" i="0" lang="en" sz="1400" u="none" cap="none" strike="noStrike">
                <a:solidFill>
                  <a:schemeClr val="dk1"/>
                </a:solidFill>
                <a:latin typeface="Times New Roman"/>
                <a:ea typeface="Times New Roman"/>
                <a:cs typeface="Times New Roman"/>
                <a:sym typeface="Times New Roman"/>
              </a:rPr>
              <a:t>* Social: Protects indigenous agricultural livelihoods and preserves local beekeeping economies.</a:t>
            </a:r>
            <a:endParaRPr b="0" i="0" sz="1400" u="none" cap="none" strike="noStrike">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b="0" i="0" lang="en" sz="1400" u="none" cap="none" strike="noStrike">
                <a:solidFill>
                  <a:schemeClr val="dk1"/>
                </a:solidFill>
                <a:latin typeface="Times New Roman"/>
                <a:ea typeface="Times New Roman"/>
                <a:cs typeface="Times New Roman"/>
                <a:sym typeface="Times New Roman"/>
              </a:rPr>
              <a:t>* Economic: Eliminates profit loss caused by cheap, counterfeit sugar syrup brands undercutting the market.</a:t>
            </a:r>
            <a:endParaRPr b="0" i="0" sz="1400" u="none" cap="none" strike="noStrike">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1100"/>
              <a:buNone/>
            </a:pPr>
            <a:r>
              <a:rPr b="0" i="0" lang="en" sz="1400" u="none" cap="none" strike="noStrike">
                <a:solidFill>
                  <a:schemeClr val="dk1"/>
                </a:solidFill>
                <a:latin typeface="Times New Roman"/>
                <a:ea typeface="Times New Roman"/>
                <a:cs typeface="Times New Roman"/>
                <a:sym typeface="Times New Roman"/>
              </a:rPr>
              <a:t>* Environmental: Helps safeguard bee colony populations through early disease and climate warning notifications.</a:t>
            </a:r>
            <a:br>
              <a:rPr b="0" i="0" lang="en" sz="1400" u="none" cap="none" strike="noStrike">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1100"/>
              <a:buNone/>
            </a:pPr>
            <a:r>
              <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1100"/>
              <a:buNone/>
            </a:pPr>
            <a:r>
              <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1100"/>
              <a:buNone/>
            </a:pPr>
            <a:r>
              <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1100"/>
              <a:buNone/>
            </a:pPr>
            <a:r>
              <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1100"/>
              <a:buNone/>
            </a:pPr>
            <a:r>
              <a:t/>
            </a:r>
            <a:endParaRPr>
              <a:solidFill>
                <a:schemeClr val="dk1"/>
              </a:solidFill>
              <a:latin typeface="Times New Roman"/>
              <a:ea typeface="Times New Roman"/>
              <a:cs typeface="Times New Roman"/>
              <a:sym typeface="Times New Roman"/>
            </a:endParaRPr>
          </a:p>
        </p:txBody>
      </p:sp>
      <p:pic>
        <p:nvPicPr>
          <p:cNvPr id="189" name="Google Shape;189;p29" title="WhatsApp Image 2026-09-12 at 22.19.59.jpeg"/>
          <p:cNvPicPr preferRelativeResize="0"/>
          <p:nvPr/>
        </p:nvPicPr>
        <p:blipFill>
          <a:blip r:embed="rId5">
            <a:alphaModFix/>
          </a:blip>
          <a:stretch>
            <a:fillRect/>
          </a:stretch>
        </p:blipFill>
        <p:spPr>
          <a:xfrm>
            <a:off x="530550" y="3209725"/>
            <a:ext cx="1772576" cy="1508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p:nvPr/>
        </p:nvSpPr>
        <p:spPr>
          <a:xfrm>
            <a:off x="0" y="4766072"/>
            <a:ext cx="9143999" cy="377429"/>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196" name="Google Shape;196;p30"/>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n" sz="2100">
                <a:solidFill>
                  <a:schemeClr val="accent5"/>
                </a:solidFill>
                <a:latin typeface="Times New Roman"/>
                <a:ea typeface="Times New Roman"/>
                <a:cs typeface="Times New Roman"/>
                <a:sym typeface="Times New Roman"/>
              </a:rPr>
              <a:t>RESEARCH  AND REFERENCES</a:t>
            </a:r>
            <a:endParaRPr sz="1100"/>
          </a:p>
        </p:txBody>
      </p:sp>
      <p:sp>
        <p:nvSpPr>
          <p:cNvPr id="197" name="Google Shape;197;p30"/>
          <p:cNvSpPr txBox="1"/>
          <p:nvPr/>
        </p:nvSpPr>
        <p:spPr>
          <a:xfrm>
            <a:off x="457211" y="1055341"/>
            <a:ext cx="7038900" cy="34326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 sz="1800" u="none" cap="none" strike="noStrike">
                <a:solidFill>
                  <a:schemeClr val="accent5"/>
                </a:solidFill>
                <a:latin typeface="Times New Roman"/>
                <a:ea typeface="Times New Roman"/>
                <a:cs typeface="Times New Roman"/>
                <a:sym typeface="Times New Roman"/>
              </a:rPr>
              <a:t>Reference and research work</a:t>
            </a:r>
            <a:endParaRPr b="0" i="0" sz="1400" u="none" cap="none" strike="noStrike">
              <a:solidFill>
                <a:srgbClr val="000000"/>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 Blockchain Applications in Food Traceability Networks – Review of distributed architecture models for public supply chains.</a:t>
            </a:r>
            <a:endParaRPr>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 IoT sensors-Driven Remote Bee Colony Microclimate Monitoring – Technical design baselines for in-hive sensory matrices.</a:t>
            </a:r>
            <a:endParaRPr>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lang="en" sz="1500">
                <a:solidFill>
                  <a:schemeClr val="accent5"/>
                </a:solidFill>
                <a:latin typeface="Times New Roman"/>
                <a:ea typeface="Times New Roman"/>
                <a:cs typeface="Times New Roman"/>
                <a:sym typeface="Times New Roman"/>
              </a:rPr>
              <a:t>Industry Baselines &amp; Technology Benchmarks</a:t>
            </a:r>
            <a:br>
              <a:rPr lang="en" sz="1500">
                <a:solidFill>
                  <a:schemeClr val="accent5"/>
                </a:solidFill>
                <a:latin typeface="Times New Roman"/>
                <a:ea typeface="Times New Roman"/>
                <a:cs typeface="Times New Roman"/>
                <a:sym typeface="Times New Roman"/>
              </a:rPr>
            </a:br>
            <a:r>
              <a:rPr lang="en" sz="1500">
                <a:solidFill>
                  <a:schemeClr val="dk1"/>
                </a:solidFill>
                <a:latin typeface="Times New Roman"/>
                <a:ea typeface="Times New Roman"/>
                <a:cs typeface="Times New Roman"/>
                <a:sym typeface="Times New Roman"/>
              </a:rPr>
              <a:t>*</a:t>
            </a:r>
            <a:r>
              <a:rPr lang="en" sz="1300">
                <a:solidFill>
                  <a:schemeClr val="dk1"/>
                </a:solidFill>
                <a:latin typeface="Times New Roman"/>
                <a:ea typeface="Times New Roman"/>
                <a:cs typeface="Times New Roman"/>
                <a:sym typeface="Times New Roman"/>
              </a:rPr>
              <a:t>Frontiers in Sustainable Food Systems – Analysing Blockchain Adoption in Beekeeping </a:t>
            </a:r>
            <a:endParaRPr sz="13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t/>
            </a:r>
            <a:endParaRPr sz="13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 sz="1300">
                <a:solidFill>
                  <a:schemeClr val="dk1"/>
                </a:solidFill>
                <a:latin typeface="Times New Roman"/>
                <a:ea typeface="Times New Roman"/>
                <a:cs typeface="Times New Roman"/>
                <a:sym typeface="Times New Roman"/>
              </a:rPr>
              <a:t>*Journal of Apicultural Research – Precision Apiculture System: Honey Traceability from Hive to Spoon</a:t>
            </a:r>
            <a:endParaRPr sz="13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sz="1300">
              <a:solidFill>
                <a:schemeClr val="dk1"/>
              </a:solidFill>
              <a:latin typeface="Times New Roman"/>
              <a:ea typeface="Times New Roman"/>
              <a:cs typeface="Times New Roman"/>
              <a:sym typeface="Times New Roman"/>
            </a:endParaRPr>
          </a:p>
        </p:txBody>
      </p:sp>
      <p:sp>
        <p:nvSpPr>
          <p:cNvPr id="198" name="Google Shape;198;p30"/>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199" name="Google Shape;199;p30"/>
          <p:cNvSpPr txBox="1"/>
          <p:nvPr>
            <p:ph idx="11" type="ftr"/>
          </p:nvPr>
        </p:nvSpPr>
        <p:spPr>
          <a:xfrm>
            <a:off x="1380227" y="4817864"/>
            <a:ext cx="6620774" cy="273844"/>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@SIH 2026 – HoneyChain: Blockchain-Powered Honey Traceability, HoneyDNA Authentication and Smart Beekeeping Intelligence Platform</a:t>
            </a:r>
            <a:endParaRPr sz="1100">
              <a:solidFill>
                <a:schemeClr val="lt1"/>
              </a:solidFill>
              <a:latin typeface="Times New Roman"/>
              <a:ea typeface="Times New Roman"/>
              <a:cs typeface="Times New Roman"/>
              <a:sym typeface="Times New Roman"/>
            </a:endParaRPr>
          </a:p>
        </p:txBody>
      </p:sp>
      <p:pic>
        <p:nvPicPr>
          <p:cNvPr id="200" name="Google Shape;200;p30"/>
          <p:cNvPicPr preferRelativeResize="0"/>
          <p:nvPr/>
        </p:nvPicPr>
        <p:blipFill rotWithShape="1">
          <a:blip r:embed="rId3">
            <a:alphaModFix/>
          </a:blip>
          <a:srcRect b="0" l="0" r="0" t="0"/>
          <a:stretch/>
        </p:blipFill>
        <p:spPr>
          <a:xfrm>
            <a:off x="7335065" y="1125"/>
            <a:ext cx="1687388" cy="796753"/>
          </a:xfrm>
          <a:prstGeom prst="rect">
            <a:avLst/>
          </a:prstGeom>
          <a:noFill/>
          <a:ln>
            <a:noFill/>
          </a:ln>
        </p:spPr>
      </p:pic>
      <p:pic>
        <p:nvPicPr>
          <p:cNvPr id="201" name="Google Shape;201;p30"/>
          <p:cNvPicPr preferRelativeResize="0"/>
          <p:nvPr/>
        </p:nvPicPr>
        <p:blipFill rotWithShape="1">
          <a:blip r:embed="rId4">
            <a:alphaModFix/>
          </a:blip>
          <a:srcRect b="0" l="0" r="0" t="0"/>
          <a:stretch/>
        </p:blipFill>
        <p:spPr>
          <a:xfrm>
            <a:off x="67144" y="1125"/>
            <a:ext cx="1055992" cy="992038"/>
          </a:xfrm>
          <a:prstGeom prst="rect">
            <a:avLst/>
          </a:prstGeom>
          <a:solidFill>
            <a:schemeClr val="lt1"/>
          </a:solid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