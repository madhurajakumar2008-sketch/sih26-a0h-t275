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0163" y="2009179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549693"/>
            <a:ext cx="5924550" cy="4307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SIH26083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Extreme Heatwave Early Warning and Human Thermal Stress Index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Disaster Management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SIH26-A0H-T275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- Tech Indians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2625" y="1500"/>
            <a:ext cx="2249850" cy="1062337"/>
          </a:xfrm>
          <a:prstGeom prst="rect">
            <a:avLst/>
          </a:prstGeom>
        </p:spPr>
      </p:pic>
      <p:pic>
        <p:nvPicPr>
          <p:cNvPr id="6" name="Google Shape;97;p13">
            <a:extLst>
              <a:ext uri="{FF2B5EF4-FFF2-40B4-BE49-F238E27FC236}">
                <a16:creationId xmlns:a16="http://schemas.microsoft.com/office/drawing/2014/main" id="{DBC2D3E8-FB72-2487-8E9C-326184B064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25" y="1500"/>
            <a:ext cx="1407989" cy="13227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497514" y="59227"/>
            <a:ext cx="8233082" cy="1143000"/>
          </a:xfrm>
        </p:spPr>
        <p:txBody>
          <a:bodyPr/>
          <a:lstStyle/>
          <a:p>
            <a:pPr eaLnBrk="1" hangingPunct="1"/>
            <a:br>
              <a:rPr lang="en-US" sz="1800" b="1" dirty="0">
                <a:solidFill>
                  <a:schemeClr val="accent5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accent5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El Niño-Aware AI Platform for Anticipatory Heatwave Risk, Human Thermal Stress and Localized Heat Action Planning</a:t>
            </a:r>
            <a:br>
              <a:rPr lang="en-US" sz="1800" b="1" dirty="0">
                <a:solidFill>
                  <a:schemeClr val="accent5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1800" b="1" dirty="0">
              <a:solidFill>
                <a:schemeClr val="accent5"/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639683" y="6410923"/>
            <a:ext cx="7959305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2026 -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El Niño-Aware AI Platform for Anticipatory Heatwave Risk, Human Thermal Stress and Localized Heat Action Planning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Google Shape;97;p13">
            <a:extLst>
              <a:ext uri="{FF2B5EF4-FFF2-40B4-BE49-F238E27FC236}">
                <a16:creationId xmlns:a16="http://schemas.microsoft.com/office/drawing/2014/main" id="{D24E5313-FA65-6422-3D44-4C06AAF432D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25" y="1500"/>
            <a:ext cx="1407989" cy="13227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5" name="Google Shape;105;p14">
            <a:extLst>
              <a:ext uri="{FF2B5EF4-FFF2-40B4-BE49-F238E27FC236}">
                <a16:creationId xmlns:a16="http://schemas.microsoft.com/office/drawing/2014/main" id="{F4FCB59E-11D1-36D6-D653-B3F8D6ECC8AB}"/>
              </a:ext>
            </a:extLst>
          </p:cNvPr>
          <p:cNvSpPr txBox="1"/>
          <p:nvPr/>
        </p:nvSpPr>
        <p:spPr>
          <a:xfrm>
            <a:off x="473791" y="1631575"/>
            <a:ext cx="5083800" cy="5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  </a:t>
            </a: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💡</a:t>
            </a: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ea typeface="Impact"/>
                <a:cs typeface="Times New Roman" panose="02020603050405020304" pitchFamily="18" charset="0"/>
                <a:sym typeface="Impact"/>
              </a:rPr>
              <a:t> Our Solution</a:t>
            </a:r>
            <a:endParaRPr sz="2000" dirty="0">
              <a:solidFill>
                <a:schemeClr val="accent5"/>
              </a:solidFill>
              <a:latin typeface="Times New Roman" panose="02020603050405020304" pitchFamily="18" charset="0"/>
              <a:ea typeface="Impact"/>
              <a:cs typeface="Times New Roman" panose="02020603050405020304" pitchFamily="18" charset="0"/>
              <a:sym typeface="Impact"/>
            </a:endParaRPr>
          </a:p>
          <a:p>
            <a:pPr marL="1080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Fuses climate drivers (El Nino/ENSO, IOD, SST, rainfall &amp; soil-moisture anomalies) + district weather + WBGT thermal stress + vulnerability + response capacity into one anticipatory heat-risk platform.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✨</a:t>
            </a: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ea typeface="Impact"/>
                <a:cs typeface="Times New Roman" panose="02020603050405020304" pitchFamily="18" charset="0"/>
                <a:sym typeface="Impact"/>
              </a:rPr>
              <a:t> The Uniqueness</a:t>
            </a:r>
            <a:endParaRPr dirty="0">
              <a:solidFill>
                <a:schemeClr val="accent5"/>
              </a:solidFill>
              <a:latin typeface="Times New Roman" panose="02020603050405020304" pitchFamily="18" charset="0"/>
              <a:ea typeface="Impact"/>
              <a:cs typeface="Times New Roman" panose="02020603050405020304" pitchFamily="18" charset="0"/>
              <a:sym typeface="Impact"/>
            </a:endParaRPr>
          </a:p>
          <a:p>
            <a:pPr marL="1080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A novel district-level Indian platform combining ENSO/IOD climate intelligence + heatwave precursor detection + WBGT risk fusion + AI action optimizer + digital-twin what-if simulation.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</p:txBody>
      </p:sp>
      <p:sp>
        <p:nvSpPr>
          <p:cNvPr id="12" name="Google Shape;104;p14">
            <a:extLst>
              <a:ext uri="{FF2B5EF4-FFF2-40B4-BE49-F238E27FC236}">
                <a16:creationId xmlns:a16="http://schemas.microsoft.com/office/drawing/2014/main" id="{62234F42-EC84-9966-FDDD-14518D9FC482}"/>
              </a:ext>
            </a:extLst>
          </p:cNvPr>
          <p:cNvSpPr txBox="1"/>
          <p:nvPr/>
        </p:nvSpPr>
        <p:spPr>
          <a:xfrm>
            <a:off x="6250200" y="1571922"/>
            <a:ext cx="5005498" cy="4344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swald"/>
              </a:rPr>
              <a:t>🚨    </a:t>
            </a: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/>
              </a:rPr>
              <a:t>The Problem</a:t>
            </a:r>
            <a:endParaRPr sz="20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mpact"/>
            </a:endParaRPr>
          </a:p>
          <a:p>
            <a:pPr marL="1080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Oswald"/>
              </a:rPr>
              <a:t>Moves beyond temperature-only, short-range alerts: adds climate-scale precursors, vulnerability-aware risk levels and AI action recommendations, not just a Red Alert.</a:t>
            </a:r>
          </a:p>
          <a:p>
            <a:pPr marL="1080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Oswald"/>
            </a:endParaRP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Oswald"/>
              <a:cs typeface="Times New Roman" panose="02020603050405020304" pitchFamily="18" charset="0"/>
              <a:sym typeface="Oswald"/>
            </a:endParaRP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swald"/>
              </a:rPr>
              <a:t>🚀</a:t>
            </a: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/>
              </a:rPr>
              <a:t>3–5 Day Anticipatory Heat-Risk Alerts</a:t>
            </a:r>
            <a:endParaRPr sz="20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Impact"/>
            </a:endParaRPr>
          </a:p>
          <a:p>
            <a:pPr marL="108000" lvl="0" indent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Impact"/>
              </a:rPr>
              <a:t>Integrates demographic vulnerability and environmental heat-stress indicators to estimate potential healthcare-surge risk and trigger localized Heat Action Plans through automated alerts.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55321" y="6444712"/>
            <a:ext cx="8609161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2026 -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El Niño-Aware AI Platform for Anticipatory Heatwave Risk, Human Thermal Stress and Localized Heat Action Planning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Google Shape;97;p13">
            <a:extLst>
              <a:ext uri="{FF2B5EF4-FFF2-40B4-BE49-F238E27FC236}">
                <a16:creationId xmlns:a16="http://schemas.microsoft.com/office/drawing/2014/main" id="{62C8441B-CFB6-E56D-6573-8A40E9B5D4F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25" y="1500"/>
            <a:ext cx="1407989" cy="13227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5" name="Google Shape;105;p14">
            <a:extLst>
              <a:ext uri="{FF2B5EF4-FFF2-40B4-BE49-F238E27FC236}">
                <a16:creationId xmlns:a16="http://schemas.microsoft.com/office/drawing/2014/main" id="{B20CF254-A8D7-C9C7-0E9A-98B3A3C348F2}"/>
              </a:ext>
            </a:extLst>
          </p:cNvPr>
          <p:cNvSpPr txBox="1"/>
          <p:nvPr/>
        </p:nvSpPr>
        <p:spPr>
          <a:xfrm>
            <a:off x="1294812" y="760954"/>
            <a:ext cx="10287588" cy="2818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  </a:t>
            </a: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💡</a:t>
            </a: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ea typeface="Impact"/>
                <a:cs typeface="Times New Roman" panose="02020603050405020304" pitchFamily="18" charset="0"/>
                <a:sym typeface="Impact"/>
              </a:rPr>
              <a:t> Technologies to be Used</a:t>
            </a:r>
            <a:endParaRPr sz="2000" dirty="0">
              <a:solidFill>
                <a:schemeClr val="accent5"/>
              </a:solidFill>
              <a:latin typeface="Times New Roman" panose="02020603050405020304" pitchFamily="18" charset="0"/>
              <a:ea typeface="Impact"/>
              <a:cs typeface="Times New Roman" panose="02020603050405020304" pitchFamily="18" charset="0"/>
              <a:sym typeface="Impact"/>
            </a:endParaRPr>
          </a:p>
          <a:p>
            <a:pPr marL="1080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Python (FastAPI), Pandas/NumPy/GeoPandas, Scikit-learn; PostgreSQL +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PostGIS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;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Streamlit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/React dashboard; Open-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Meteo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 &amp; IMD weather APIs; NOAA ENSO/SST indices + BoM IOD index; SMS/WhatsApp alert API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✨</a:t>
            </a: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ea typeface="Impact"/>
                <a:cs typeface="Times New Roman" panose="02020603050405020304" pitchFamily="18" charset="0"/>
                <a:sym typeface="Impact"/>
              </a:rPr>
              <a:t> Methodology and Process implementation -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Pipeline shown below: data to alert in six stages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C86ADB-DA83-5002-C76B-5B62E482B2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276" y="3001992"/>
            <a:ext cx="10516588" cy="32644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Google Shape;97;p13">
            <a:extLst>
              <a:ext uri="{FF2B5EF4-FFF2-40B4-BE49-F238E27FC236}">
                <a16:creationId xmlns:a16="http://schemas.microsoft.com/office/drawing/2014/main" id="{BD2F0BB8-9259-6BF1-A28E-312B4828A4C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25" y="1500"/>
            <a:ext cx="1407989" cy="13227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5" name="Google Shape;105;p14">
            <a:extLst>
              <a:ext uri="{FF2B5EF4-FFF2-40B4-BE49-F238E27FC236}">
                <a16:creationId xmlns:a16="http://schemas.microsoft.com/office/drawing/2014/main" id="{D50E65F3-C6A9-D73D-526A-D6690E2E3DFB}"/>
              </a:ext>
            </a:extLst>
          </p:cNvPr>
          <p:cNvSpPr txBox="1"/>
          <p:nvPr/>
        </p:nvSpPr>
        <p:spPr>
          <a:xfrm>
            <a:off x="793519" y="1366840"/>
            <a:ext cx="5083800" cy="475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  </a:t>
            </a: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💡</a:t>
            </a: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ea typeface="Impact"/>
                <a:cs typeface="Times New Roman" panose="02020603050405020304" pitchFamily="18" charset="0"/>
                <a:sym typeface="Impact"/>
              </a:rPr>
              <a:t> Feasibility of the idea</a:t>
            </a:r>
            <a:endParaRPr sz="2000" dirty="0">
              <a:solidFill>
                <a:schemeClr val="accent5"/>
              </a:solidFill>
              <a:latin typeface="Times New Roman" panose="02020603050405020304" pitchFamily="18" charset="0"/>
              <a:ea typeface="Impact"/>
              <a:cs typeface="Times New Roman" panose="02020603050405020304" pitchFamily="18" charset="0"/>
              <a:sym typeface="Impact"/>
            </a:endParaRPr>
          </a:p>
          <a:p>
            <a:pPr marL="393750" lvl="0" indent="-2857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Core layer (Open-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Meteo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/IMD ingestion, WBGT calculation, dashboard, SMS/WhatsApp alerts) is fully feasible using free public APIs.</a:t>
            </a:r>
          </a:p>
          <a:p>
            <a:pPr marL="393750" lvl="0" indent="-2857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Climate-driver indices are publicly available and incorporated according to their respective update frequencies using cached and quality-controlled values.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  ✨</a:t>
            </a: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ea typeface="Impact"/>
                <a:cs typeface="Times New Roman" panose="02020603050405020304" pitchFamily="18" charset="0"/>
                <a:sym typeface="Impact"/>
              </a:rPr>
              <a:t> Challenges and risks</a:t>
            </a:r>
            <a:endParaRPr dirty="0">
              <a:solidFill>
                <a:schemeClr val="accent5"/>
              </a:solidFill>
              <a:latin typeface="Times New Roman" panose="02020603050405020304" pitchFamily="18" charset="0"/>
              <a:ea typeface="Impact"/>
              <a:cs typeface="Times New Roman" panose="02020603050405020304" pitchFamily="18" charset="0"/>
              <a:sym typeface="Impact"/>
            </a:endParaRPr>
          </a:p>
          <a:p>
            <a:pPr marL="1080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Data gaps/delays; short-range forecast uncertainty; false alarms reducing trust; limited public healthcare-outcome data; risk of  over-attribution of local heatwaves to El Niño.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</p:txBody>
      </p:sp>
      <p:sp>
        <p:nvSpPr>
          <p:cNvPr id="9" name="Google Shape;104;p14">
            <a:extLst>
              <a:ext uri="{FF2B5EF4-FFF2-40B4-BE49-F238E27FC236}">
                <a16:creationId xmlns:a16="http://schemas.microsoft.com/office/drawing/2014/main" id="{7689E0A7-370E-1A11-09A8-AB00CCD87854}"/>
              </a:ext>
            </a:extLst>
          </p:cNvPr>
          <p:cNvSpPr txBox="1"/>
          <p:nvPr/>
        </p:nvSpPr>
        <p:spPr>
          <a:xfrm>
            <a:off x="6461185" y="2523328"/>
            <a:ext cx="4947989" cy="265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mpact"/>
              </a:rPr>
              <a:t>🛡️ Strategic Solutions</a:t>
            </a:r>
          </a:p>
          <a:p>
            <a:pPr marL="0" lvl="0" indent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Oswald"/>
              </a:rPr>
              <a:t>Multi-source data + caching + quality checks; confidence score shown with every alert; historical back-testing; categorical health-surge output until validated data exists; probabilistic climate language.</a:t>
            </a:r>
          </a:p>
          <a:p>
            <a:pPr marL="0" lvl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  <a:sym typeface="Oswald"/>
            </a:endParaRP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43EA168C-6225-3D84-9BB0-34143787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2868" y="6425409"/>
            <a:ext cx="8436634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2026 -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El Niño-Aware AI Platform for Anticipatory Heatwave Risk, Human Thermal Stress and Localized Heat Action Planning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20815" y="6433990"/>
            <a:ext cx="8770189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2026 -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El Niño-Aware AI Platform for Anticipatory Heatwave Risk, Human Thermal Stress and Localized Heat Action Planning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Google Shape;97;p13">
            <a:extLst>
              <a:ext uri="{FF2B5EF4-FFF2-40B4-BE49-F238E27FC236}">
                <a16:creationId xmlns:a16="http://schemas.microsoft.com/office/drawing/2014/main" id="{57148289-9232-3671-82E9-24034B0C2DA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25" y="1500"/>
            <a:ext cx="1407989" cy="13227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5" name="Google Shape;105;p14">
            <a:extLst>
              <a:ext uri="{FF2B5EF4-FFF2-40B4-BE49-F238E27FC236}">
                <a16:creationId xmlns:a16="http://schemas.microsoft.com/office/drawing/2014/main" id="{F8145C55-FD66-9551-B2A3-D35F428EC088}"/>
              </a:ext>
            </a:extLst>
          </p:cNvPr>
          <p:cNvSpPr txBox="1"/>
          <p:nvPr/>
        </p:nvSpPr>
        <p:spPr>
          <a:xfrm>
            <a:off x="473791" y="1631575"/>
            <a:ext cx="5083800" cy="5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  </a:t>
            </a: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💡</a:t>
            </a: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ea typeface="Impact"/>
                <a:cs typeface="Times New Roman" panose="02020603050405020304" pitchFamily="18" charset="0"/>
                <a:sym typeface="Impact"/>
              </a:rPr>
              <a:t> Impact on the targeted audience</a:t>
            </a:r>
            <a:endParaRPr sz="2000" dirty="0">
              <a:solidFill>
                <a:schemeClr val="accent5"/>
              </a:solidFill>
              <a:latin typeface="Times New Roman" panose="02020603050405020304" pitchFamily="18" charset="0"/>
              <a:ea typeface="Impact"/>
              <a:cs typeface="Times New Roman" panose="02020603050405020304" pitchFamily="18" charset="0"/>
              <a:sym typeface="Impact"/>
            </a:endParaRPr>
          </a:p>
          <a:p>
            <a:pPr marL="393750" lvl="0" indent="-2857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District disaster management authorities</a:t>
            </a:r>
          </a:p>
          <a:p>
            <a:pPr marL="393750" lvl="0" indent="-2857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 Municipal bodies and hospitals</a:t>
            </a:r>
          </a:p>
          <a:p>
            <a:pPr marL="393750" lvl="0" indent="-2857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Outdoor workers, elderly, children and other vulnerable groups. </a:t>
            </a:r>
          </a:p>
          <a:p>
            <a:pPr marL="393750" lvl="0" indent="-28575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General public in heatwave-prone districts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</p:txBody>
      </p:sp>
      <p:sp>
        <p:nvSpPr>
          <p:cNvPr id="9" name="Google Shape;105;p14">
            <a:extLst>
              <a:ext uri="{FF2B5EF4-FFF2-40B4-BE49-F238E27FC236}">
                <a16:creationId xmlns:a16="http://schemas.microsoft.com/office/drawing/2014/main" id="{0A21249A-F058-F055-A585-F35C57DC5A96}"/>
              </a:ext>
            </a:extLst>
          </p:cNvPr>
          <p:cNvSpPr txBox="1"/>
          <p:nvPr/>
        </p:nvSpPr>
        <p:spPr>
          <a:xfrm>
            <a:off x="6332895" y="1503361"/>
            <a:ext cx="5083800" cy="435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ea typeface="Oswald"/>
                <a:cs typeface="Times New Roman" panose="02020603050405020304" pitchFamily="18" charset="0"/>
                <a:sym typeface="Oswald"/>
              </a:rPr>
              <a:t>✨</a:t>
            </a: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ea typeface="Impact"/>
                <a:cs typeface="Times New Roman" panose="02020603050405020304" pitchFamily="18" charset="0"/>
                <a:sym typeface="Impact"/>
              </a:rPr>
              <a:t> Benefits of the solution</a:t>
            </a:r>
            <a:endParaRPr dirty="0">
              <a:solidFill>
                <a:schemeClr val="accent5"/>
              </a:solidFill>
              <a:latin typeface="Times New Roman" panose="02020603050405020304" pitchFamily="18" charset="0"/>
              <a:ea typeface="Impact"/>
              <a:cs typeface="Times New Roman" panose="02020603050405020304" pitchFamily="18" charset="0"/>
              <a:sym typeface="Impact"/>
            </a:endParaRPr>
          </a:p>
          <a:p>
            <a:pPr marL="393750" indent="-28575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swald"/>
              </a:rPr>
              <a:t>Social: Earlier warning can support timely interventions for vulnerable groups and help reduce heat-related illness and adverse health outcomes.</a:t>
            </a:r>
          </a:p>
          <a:p>
            <a:pPr marL="393750" indent="-28575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swald"/>
              </a:rPr>
              <a:t>Economic: lowers avoidable healthcare surge cost, protects outdoor-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swald"/>
              </a:rPr>
              <a:t>labour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swald"/>
              </a:rPr>
              <a:t> productivity, optimizes shelter/water/medical deployment</a:t>
            </a:r>
          </a:p>
          <a:p>
            <a:pPr marL="393750" indent="-28575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swald"/>
              </a:rPr>
              <a:t>Governance: strengthens NDMA and state Heat Action Plans with data-driven, anticipatory response</a:t>
            </a:r>
          </a:p>
          <a:p>
            <a:pPr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dirty="0">
              <a:solidFill>
                <a:schemeClr val="dk1"/>
              </a:solidFill>
              <a:latin typeface="Times New Roman" panose="02020603050405020304" pitchFamily="18" charset="0"/>
              <a:ea typeface="Oswald"/>
              <a:cs typeface="Times New Roman" panose="02020603050405020304" pitchFamily="18" charset="0"/>
              <a:sym typeface="Oswald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01615" y="1627821"/>
            <a:ext cx="9385300" cy="4012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400" noProof="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and research work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en-US" b="0" u="none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 Meteorological Department (IMD): https://mausam.imd.gov.in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en-US" b="0" u="none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Open-Meteo Weather API: https://open-meteo.com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0" indent="-342900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en-US" b="0" u="none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NOAA Climate Prediction Center - ONI/ENSO Index: https://origin.cpc.ncep.noaa.gov/products/analysis_monitoring/ensostuff/ONI_v5.php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0" indent="-342900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en-US" b="0" u="none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Bureau of Meteorology, Australia - Indian Ocean Dipole Index: http://www.bom.gov.au/climate/enso/indices.shtml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en-US" b="0" u="none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WHO/WMO Heat-Health Action Plan Guidance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0" indent="-34290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en-US" b="0" u="none" noProof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NDMA - National Guidelines for Management of Heat Waves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840302" y="6423818"/>
            <a:ext cx="8827698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2026 -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El Niño-Aware AI Platform for Anticipatory Heatwave Risk, Human Thermal Stress and Localized Heat Action Planning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Google Shape;97;p13">
            <a:extLst>
              <a:ext uri="{FF2B5EF4-FFF2-40B4-BE49-F238E27FC236}">
                <a16:creationId xmlns:a16="http://schemas.microsoft.com/office/drawing/2014/main" id="{93199BD5-8FA8-50BE-40AA-243F73BD79D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25" y="1500"/>
            <a:ext cx="1407989" cy="13227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7571</TotalTime>
  <Words>687</Words>
  <Application>Microsoft Office PowerPoint</Application>
  <PresentationFormat>Widescreen</PresentationFormat>
  <Paragraphs>68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Oswald</vt:lpstr>
      <vt:lpstr>Times New Roman</vt:lpstr>
      <vt:lpstr>TradeGothic</vt:lpstr>
      <vt:lpstr>Office Theme</vt:lpstr>
      <vt:lpstr>SMART INDIA HACKATHON 2026</vt:lpstr>
      <vt:lpstr> El Niño-Aware AI Platform for Anticipatory Heatwave Risk, Human Thermal Stress and Localized Heat Action Planning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Rithvikha Elango</cp:lastModifiedBy>
  <cp:revision>179</cp:revision>
  <dcterms:created xsi:type="dcterms:W3CDTF">2013-12-12T18:46:50Z</dcterms:created>
  <dcterms:modified xsi:type="dcterms:W3CDTF">2026-08-30T13:03:48Z</dcterms:modified>
  <cp:category/>
</cp:coreProperties>
</file>